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Welcome everyone. We're Team RAD for </a:t>
            </a:r>
            <a:r>
              <a:rPr lang="en-US" sz="1200">
                <a:solidFill>
                  <a:schemeClr val="dk1"/>
                </a:solidFill>
                <a:latin typeface="Calibri"/>
                <a:ea typeface="Calibri"/>
                <a:cs typeface="Calibri"/>
                <a:sym typeface="Calibri"/>
              </a:rPr>
              <a:t>research, analytics, and decisions</a:t>
            </a:r>
            <a:r>
              <a:rPr b="0" i="0" lang="en-US" sz="1200" u="none" cap="none" strike="noStrike">
                <a:solidFill>
                  <a:schemeClr val="dk1"/>
                </a:solidFill>
                <a:latin typeface="Calibri"/>
                <a:ea typeface="Calibri"/>
                <a:cs typeface="Calibri"/>
                <a:sym typeface="Calibri"/>
              </a:rPr>
              <a:t>, presenting our analysis on pizza delivery delays - a project we've called Pizzagate. Over the next 15 minutes, we'll show you what's driving delivery delays in our network and what we can do about it.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Quick introduction to our team. Each member contributed unique skills - Sultan led the data cleaning and predictive modeling work, Jordan and Eitan built our Tableau visualizations, and Ali handled our Gen AI work. We also worked closely with Jarvis, our AI assistant, throughout the project.</a:t>
            </a:r>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Let's start with the problem. Our customers see an estimated delivery time of about 12 minutes when they place an order. The reality? They wait 30 minutes on average. That's a 17.6 minute gap between promise and reality. Across thousands of orders, this isn't just an operations issue - it's a credibility issue. Every broken ETA erodes customer trust. So our analysis sets out to answer: where does this gap come from, and what can we do about it?</a:t>
            </a:r>
            <a:endParaRPr/>
          </a:p>
        </p:txBody>
      </p:sp>
      <p:sp>
        <p:nvSpPr>
          <p:cNvPr id="54" name="Google Shape;5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Our central question, framed as the platform's analytics team: what operational and behavioral factors most predict pizza delivery delays, and what should we do about it? We're answering this for four stakeholder groups - Operations who runs day-to-day decisions, Product who owns the customer-facing ETA, Strategy for resource allocation, and our Restaurant Partners whose brands are affected. Our role throughout is to translate operational data into evidence-based recommendations leadership can act on.</a:t>
            </a:r>
            <a:endParaRPr/>
          </a:p>
        </p:txBody>
      </p:sp>
      <p:sp>
        <p:nvSpPr>
          <p:cNvPr id="73" name="Google Shape;7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Quick note on our data: this is a synthetic dataset of 1,004 deliveries. The patterns we'll show are realistic but the data itself is generated for academic purposes. We have 5 restaurant brands across 84 locations, with about 21% of orders delayed overall - giving us a workable sample to investigate.</a:t>
            </a:r>
            <a:endParaRPr/>
          </a:p>
        </p:txBody>
      </p:sp>
      <p:sp>
        <p:nvSpPr>
          <p:cNvPr id="102" name="Google Shape;10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First, when do delays happen. Three time scales here. Hour is the strongest pattern - delays climb steadily and peak around 8 PM. Months show clear seasonal hotspots in summer and December - likely tied to weather and holidays. But day of week is interesting - it's surprisingly flat. Only 7 percentage points between the best and worst day. The insight: our operational lever here is time-of-day staffing, not day-of-week scheduling. That's a finding by itself - it tells leadership where NOT to spend time.</a:t>
            </a:r>
            <a:endParaRPr/>
          </a:p>
        </p:txBody>
      </p:sp>
      <p:sp>
        <p:nvSpPr>
          <p:cNvPr id="126" name="Google Shape;12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Now where do delays happen. Northeast leads with 32% delays - more than double the Midwest at 14%. Among restaurants, Domino's has the highest raw rate at 30%, Papa John's the lowest at 13%. One caveat: these are raw rates that don't control for traffic conditions or what kinds of orders each brand takes. We'll come back to that in our predictive layer. The insight here: regional patterns are real and we can address them through regional capacity planning.</a:t>
            </a:r>
            <a:endParaRPr/>
          </a:p>
        </p:txBody>
      </p:sp>
      <p:sp>
        <p:nvSpPr>
          <p:cNvPr id="142" name="Google Shape;14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Finally, what kinds of orders get delayed. Bigger pizzas with more complexity dominate. XL pizzas are delayed 41% of the time versus only 1.5% for small. Pizza complexity tells the same story - high complexity orders hit 37%. Stuffed Crust looks alarming at 95%, but with only 21 orders we want to flag that as a small sample to investigate further. The insight: product complexity is a powerful and actionable predictor of kitchen-driven delays.</a:t>
            </a:r>
            <a:endParaRPr/>
          </a:p>
        </p:txBody>
      </p:sp>
      <p:sp>
        <p:nvSpPr>
          <p:cNvPr id="158" name="Google Shape;15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dd0a6f31a_3_0:notes"/>
          <p:cNvSpPr/>
          <p:nvPr>
            <p:ph idx="2" type="sldImg"/>
          </p:nvPr>
        </p:nvSpPr>
        <p:spPr>
          <a:xfrm>
            <a:off x="375000" y="0"/>
            <a:ext cx="225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g3ddd0a6f31a_3_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4" name="Google Shape;174;g3ddd0a6f31a_3_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This is what 'distance is the #1 predictor' actually looks like. Past 8 kilometers, delays go from rare to near-certain. Short trips under 4 km have basically a 0% delay rate. By 6-8 km we're at 32%. Beyond 8 km, virtually every delivery is delayed. This suggests an immediate operational lever: we should reconsider whether to even accept orders past a certain distance threshold, or set very different ETA expectations for them.</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Beyond individual factors, there's an interaction effect. We used a Gen AI tool to visualize how pizza size and traffic level combine. Look at the difference: in low-traffic conditions, almost every order combination has zero delays. But Large pizza in high traffic? 73.5% delay rate. That's a compound risk - factors don't just add up, they multiply. This tells us the highest-leverage interventions are at the worst combinations - high traffic plus large orders is where to focus operational improvements first.</a:t>
            </a:r>
            <a:endParaRPr/>
          </a:p>
        </p:txBody>
      </p:sp>
      <p:sp>
        <p:nvSpPr>
          <p:cNvPr id="214" name="Google Shape;21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To make the 'two strategies' insight concrete, here's a tale of two orders. On the left: small pizza, low traffic, off-peak hour, simple toppings - predicted delay risk of 1%. On the right: XL pizza, high traffic, peak hour, complex toppings - 50% delay risk. Same platform, same delivery model. The difference is entirely in the operational variables we control. This is what 'compound risk' looks like in human terms.</a:t>
            </a:r>
            <a:endParaRPr/>
          </a:p>
        </p:txBody>
      </p:sp>
      <p:sp>
        <p:nvSpPr>
          <p:cNvPr id="236" name="Google Shape;23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This slide is a placeholder for the team to fill in with before/after screenshots from the AI critique cycle. We will run a structured AI critique on our draft work, identify 3-4 specific improvements, implement them, and document the change here. This addresses the Step 6 requirement.</a:t>
            </a:r>
            <a:endParaRPr/>
          </a:p>
        </p:txBody>
      </p:sp>
      <p:sp>
        <p:nvSpPr>
          <p:cNvPr id="249" name="Google Shape;24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 what should leadership do? Four recommendations. First: recalibrate our ETA algorithm to factor in the variables we know predict delays. Stop systematically underpromising. Second: build an early-warning system using our model to flag at-risk orders at intake, so dispatch can intervene. Third: set distance thresholds. Past 8 km is essentially a guaranteed delay - we need to either decline those orders or set realistic ETAs. Fourth: build two operational playbooks - one for prevention, one for damage control. Different problems need different solutions.</a:t>
            </a:r>
            <a:endParaRPr/>
          </a:p>
        </p:txBody>
      </p:sp>
      <p:sp>
        <p:nvSpPr>
          <p:cNvPr id="264" name="Google Shape;264;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Thank you for your time. Before we open to questions, a quick acknowledgment of the AI tools we used throughout this project: Claude was our main analytical partner for code review and deck design. ChatGPT and NotebookLM helped with cross-validation and concept generation. Image generation tools created our custom heatmap and tale-of-two-orders infographic. We're happy to take any questions.</a:t>
            </a:r>
            <a:endParaRPr/>
          </a:p>
        </p:txBody>
      </p:sp>
      <p:sp>
        <p:nvSpPr>
          <p:cNvPr id="294" name="Google Shape;29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937"/>
        </a:solidFill>
      </p:bgPr>
    </p:bg>
    <p:spTree>
      <p:nvGrpSpPr>
        <p:cNvPr id="11" name="Shape 11"/>
        <p:cNvGrpSpPr/>
        <p:nvPr/>
      </p:nvGrpSpPr>
      <p:grpSpPr>
        <a:xfrm>
          <a:off x="0" y="0"/>
          <a:ext cx="0" cy="0"/>
          <a:chOff x="0" y="0"/>
          <a:chExt cx="0" cy="0"/>
        </a:xfrm>
      </p:grpSpPr>
      <p:sp>
        <p:nvSpPr>
          <p:cNvPr id="12" name="Google Shape;12;p3"/>
          <p:cNvSpPr/>
          <p:nvPr/>
        </p:nvSpPr>
        <p:spPr>
          <a:xfrm>
            <a:off x="0" y="2926080"/>
            <a:ext cx="9144000" cy="73152"/>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
          <p:cNvSpPr/>
          <p:nvPr/>
        </p:nvSpPr>
        <p:spPr>
          <a:xfrm>
            <a:off x="457200" y="1371600"/>
            <a:ext cx="8229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PIZZAGATE</a:t>
            </a:r>
            <a:endParaRPr b="0" i="0" sz="6000" u="none" cap="none" strike="noStrike">
              <a:solidFill>
                <a:schemeClr val="dk1"/>
              </a:solidFill>
              <a:latin typeface="Calibri"/>
              <a:ea typeface="Calibri"/>
              <a:cs typeface="Calibri"/>
              <a:sym typeface="Calibri"/>
            </a:endParaRPr>
          </a:p>
        </p:txBody>
      </p:sp>
      <p:sp>
        <p:nvSpPr>
          <p:cNvPr id="14" name="Google Shape;14;p3"/>
          <p:cNvSpPr/>
          <p:nvPr/>
        </p:nvSpPr>
        <p:spPr>
          <a:xfrm>
            <a:off x="457200" y="2286000"/>
            <a:ext cx="82296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1A66E"/>
              </a:buClr>
              <a:buSzPts val="2000"/>
              <a:buFont typeface="Calibri"/>
              <a:buNone/>
            </a:pPr>
            <a:r>
              <a:rPr b="0" i="1" lang="en-US" sz="2000" u="none" cap="none" strike="noStrike">
                <a:solidFill>
                  <a:srgbClr val="F1A66E"/>
                </a:solidFill>
                <a:latin typeface="Calibri"/>
                <a:ea typeface="Calibri"/>
                <a:cs typeface="Calibri"/>
                <a:sym typeface="Calibri"/>
              </a:rPr>
              <a:t>Predicting and Preventing Pizza Delivery Delays</a:t>
            </a:r>
            <a:endParaRPr b="0" i="0" sz="2000" u="none" cap="none" strike="noStrike">
              <a:solidFill>
                <a:schemeClr val="dk1"/>
              </a:solidFill>
              <a:latin typeface="Calibri"/>
              <a:ea typeface="Calibri"/>
              <a:cs typeface="Calibri"/>
              <a:sym typeface="Calibri"/>
            </a:endParaRPr>
          </a:p>
        </p:txBody>
      </p:sp>
      <p:sp>
        <p:nvSpPr>
          <p:cNvPr id="15" name="Google Shape;15;p3"/>
          <p:cNvSpPr/>
          <p:nvPr/>
        </p:nvSpPr>
        <p:spPr>
          <a:xfrm>
            <a:off x="457200" y="320040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A Data Analytics Project</a:t>
            </a:r>
            <a:endParaRPr b="0" i="0" sz="1600" u="none" cap="none" strike="noStrike">
              <a:solidFill>
                <a:schemeClr val="dk1"/>
              </a:solidFill>
              <a:latin typeface="Calibri"/>
              <a:ea typeface="Calibri"/>
              <a:cs typeface="Calibri"/>
              <a:sym typeface="Calibri"/>
            </a:endParaRPr>
          </a:p>
        </p:txBody>
      </p:sp>
      <p:sp>
        <p:nvSpPr>
          <p:cNvPr id="16" name="Google Shape;16;p3"/>
          <p:cNvSpPr/>
          <p:nvPr/>
        </p:nvSpPr>
        <p:spPr>
          <a:xfrm>
            <a:off x="457200" y="5029200"/>
            <a:ext cx="8229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Team RAD</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1A66E"/>
              </a:buClr>
              <a:buSzPts val="1400"/>
              <a:buFont typeface="Calibri"/>
              <a:buNone/>
            </a:pPr>
            <a:r>
              <a:rPr b="0" i="0" lang="en-US" sz="1400" u="none" cap="none" strike="noStrike">
                <a:solidFill>
                  <a:srgbClr val="F1A66E"/>
                </a:solidFill>
                <a:latin typeface="Calibri"/>
                <a:ea typeface="Calibri"/>
                <a:cs typeface="Calibri"/>
                <a:sym typeface="Calibri"/>
              </a:rPr>
              <a:t>ITEC 460 - Business Intelligence</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1A66E"/>
              </a:buClr>
              <a:buSzPts val="1400"/>
              <a:buFont typeface="Calibri"/>
              <a:buNone/>
            </a:pPr>
            <a:r>
              <a:rPr b="0" i="0" lang="en-US" sz="1400" u="none" cap="none" strike="noStrike">
                <a:solidFill>
                  <a:srgbClr val="F1A66E"/>
                </a:solidFill>
                <a:latin typeface="Calibri"/>
                <a:ea typeface="Calibri"/>
                <a:cs typeface="Calibri"/>
                <a:sym typeface="Calibri"/>
              </a:rPr>
              <a:t>Professor Gwanhoo Lee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 name="Shape 21"/>
        <p:cNvGrpSpPr/>
        <p:nvPr/>
      </p:nvGrpSpPr>
      <p:grpSpPr>
        <a:xfrm>
          <a:off x="0" y="0"/>
          <a:ext cx="0" cy="0"/>
          <a:chOff x="0" y="0"/>
          <a:chExt cx="0" cy="0"/>
        </a:xfrm>
      </p:grpSpPr>
      <p:sp>
        <p:nvSpPr>
          <p:cNvPr id="22" name="Google Shape;22;p4"/>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Meet the Team</a:t>
            </a:r>
            <a:endParaRPr sz="2800">
              <a:solidFill>
                <a:schemeClr val="dk1"/>
              </a:solidFill>
              <a:latin typeface="Calibri"/>
              <a:ea typeface="Calibri"/>
              <a:cs typeface="Calibri"/>
              <a:sym typeface="Calibri"/>
            </a:endParaRPr>
          </a:p>
        </p:txBody>
      </p:sp>
      <p:sp>
        <p:nvSpPr>
          <p:cNvPr id="23" name="Google Shape;23;p4"/>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914400" y="1554480"/>
            <a:ext cx="7315200" cy="822960"/>
          </a:xfrm>
          <a:prstGeom prst="rect">
            <a:avLst/>
          </a:prstGeom>
          <a:solidFill>
            <a:srgbClr val="FFFFFF"/>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1097280" y="1737360"/>
            <a:ext cx="457200" cy="45720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1097280" y="17373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7" name="Google Shape;27;p4"/>
          <p:cNvSpPr/>
          <p:nvPr/>
        </p:nvSpPr>
        <p:spPr>
          <a:xfrm>
            <a:off x="1737360" y="16459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Sultan Al Nahyan</a:t>
            </a:r>
            <a:endParaRPr sz="1600">
              <a:solidFill>
                <a:schemeClr val="dk1"/>
              </a:solidFill>
              <a:latin typeface="Calibri"/>
              <a:ea typeface="Calibri"/>
              <a:cs typeface="Calibri"/>
              <a:sym typeface="Calibri"/>
            </a:endParaRPr>
          </a:p>
        </p:txBody>
      </p:sp>
      <p:sp>
        <p:nvSpPr>
          <p:cNvPr id="28" name="Google Shape;28;p4"/>
          <p:cNvSpPr/>
          <p:nvPr/>
        </p:nvSpPr>
        <p:spPr>
          <a:xfrm>
            <a:off x="1737360" y="196596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Lead Analyst | Data Cleaning | Predictive Modeling</a:t>
            </a:r>
            <a:endParaRPr sz="1200">
              <a:solidFill>
                <a:schemeClr val="dk1"/>
              </a:solidFill>
              <a:latin typeface="Calibri"/>
              <a:ea typeface="Calibri"/>
              <a:cs typeface="Calibri"/>
              <a:sym typeface="Calibri"/>
            </a:endParaRPr>
          </a:p>
        </p:txBody>
      </p:sp>
      <p:sp>
        <p:nvSpPr>
          <p:cNvPr id="29" name="Google Shape;29;p4"/>
          <p:cNvSpPr/>
          <p:nvPr/>
        </p:nvSpPr>
        <p:spPr>
          <a:xfrm>
            <a:off x="914400" y="2468880"/>
            <a:ext cx="7315200" cy="822960"/>
          </a:xfrm>
          <a:prstGeom prst="rect">
            <a:avLst/>
          </a:prstGeom>
          <a:solidFill>
            <a:srgbClr val="FFFFFF"/>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1097280" y="2651760"/>
            <a:ext cx="457200" cy="45720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1097280" y="2651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32" name="Google Shape;32;p4"/>
          <p:cNvSpPr/>
          <p:nvPr/>
        </p:nvSpPr>
        <p:spPr>
          <a:xfrm>
            <a:off x="1737360" y="25603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Jordan Anderson</a:t>
            </a:r>
            <a:endParaRPr sz="1600">
              <a:solidFill>
                <a:schemeClr val="dk1"/>
              </a:solidFill>
              <a:latin typeface="Calibri"/>
              <a:ea typeface="Calibri"/>
              <a:cs typeface="Calibri"/>
              <a:sym typeface="Calibri"/>
            </a:endParaRPr>
          </a:p>
        </p:txBody>
      </p:sp>
      <p:sp>
        <p:nvSpPr>
          <p:cNvPr id="33" name="Google Shape;33;p4"/>
          <p:cNvSpPr/>
          <p:nvPr/>
        </p:nvSpPr>
        <p:spPr>
          <a:xfrm>
            <a:off x="1737360" y="288036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Tableau Developer | Product Analysis</a:t>
            </a:r>
            <a:endParaRPr sz="1200">
              <a:solidFill>
                <a:schemeClr val="dk1"/>
              </a:solidFill>
              <a:latin typeface="Calibri"/>
              <a:ea typeface="Calibri"/>
              <a:cs typeface="Calibri"/>
              <a:sym typeface="Calibri"/>
            </a:endParaRPr>
          </a:p>
        </p:txBody>
      </p:sp>
      <p:sp>
        <p:nvSpPr>
          <p:cNvPr id="34" name="Google Shape;34;p4"/>
          <p:cNvSpPr/>
          <p:nvPr/>
        </p:nvSpPr>
        <p:spPr>
          <a:xfrm>
            <a:off x="914400" y="3383280"/>
            <a:ext cx="7315200" cy="822960"/>
          </a:xfrm>
          <a:prstGeom prst="rect">
            <a:avLst/>
          </a:prstGeom>
          <a:solidFill>
            <a:srgbClr val="FFFFFF"/>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1097280" y="3566160"/>
            <a:ext cx="457200" cy="45720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1097280" y="35661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37" name="Google Shape;37;p4"/>
          <p:cNvSpPr/>
          <p:nvPr/>
        </p:nvSpPr>
        <p:spPr>
          <a:xfrm>
            <a:off x="1737360" y="34747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Eitan Toubia</a:t>
            </a:r>
            <a:endParaRPr sz="1600">
              <a:solidFill>
                <a:schemeClr val="dk1"/>
              </a:solidFill>
              <a:latin typeface="Calibri"/>
              <a:ea typeface="Calibri"/>
              <a:cs typeface="Calibri"/>
              <a:sym typeface="Calibri"/>
            </a:endParaRPr>
          </a:p>
        </p:txBody>
      </p:sp>
      <p:sp>
        <p:nvSpPr>
          <p:cNvPr id="38" name="Google Shape;38;p4"/>
          <p:cNvSpPr/>
          <p:nvPr/>
        </p:nvSpPr>
        <p:spPr>
          <a:xfrm>
            <a:off x="1737360" y="379476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Tableau Developer | Time-Series Analysis</a:t>
            </a:r>
            <a:endParaRPr sz="1200">
              <a:solidFill>
                <a:schemeClr val="dk1"/>
              </a:solidFill>
              <a:latin typeface="Calibri"/>
              <a:ea typeface="Calibri"/>
              <a:cs typeface="Calibri"/>
              <a:sym typeface="Calibri"/>
            </a:endParaRPr>
          </a:p>
        </p:txBody>
      </p:sp>
      <p:sp>
        <p:nvSpPr>
          <p:cNvPr id="39" name="Google Shape;39;p4"/>
          <p:cNvSpPr/>
          <p:nvPr/>
        </p:nvSpPr>
        <p:spPr>
          <a:xfrm>
            <a:off x="914400" y="4297680"/>
            <a:ext cx="7315200" cy="822960"/>
          </a:xfrm>
          <a:prstGeom prst="rect">
            <a:avLst/>
          </a:prstGeom>
          <a:solidFill>
            <a:srgbClr val="FFFFFF"/>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097280" y="4480560"/>
            <a:ext cx="457200" cy="45720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1097280" y="44805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2" name="Google Shape;42;p4"/>
          <p:cNvSpPr/>
          <p:nvPr/>
        </p:nvSpPr>
        <p:spPr>
          <a:xfrm>
            <a:off x="1737360" y="43891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Ali Filali</a:t>
            </a:r>
            <a:endParaRPr sz="1600">
              <a:solidFill>
                <a:schemeClr val="dk1"/>
              </a:solidFill>
              <a:latin typeface="Calibri"/>
              <a:ea typeface="Calibri"/>
              <a:cs typeface="Calibri"/>
              <a:sym typeface="Calibri"/>
            </a:endParaRPr>
          </a:p>
        </p:txBody>
      </p:sp>
      <p:sp>
        <p:nvSpPr>
          <p:cNvPr id="43" name="Google Shape;43;p4"/>
          <p:cNvSpPr/>
          <p:nvPr/>
        </p:nvSpPr>
        <p:spPr>
          <a:xfrm>
            <a:off x="1737360" y="470916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Gen AI Visualizations | Visual Storytelling</a:t>
            </a:r>
            <a:endParaRPr sz="1200">
              <a:solidFill>
                <a:schemeClr val="dk1"/>
              </a:solidFill>
              <a:latin typeface="Calibri"/>
              <a:ea typeface="Calibri"/>
              <a:cs typeface="Calibri"/>
              <a:sym typeface="Calibri"/>
            </a:endParaRPr>
          </a:p>
        </p:txBody>
      </p:sp>
      <p:sp>
        <p:nvSpPr>
          <p:cNvPr id="44" name="Google Shape;44;p4"/>
          <p:cNvSpPr/>
          <p:nvPr/>
        </p:nvSpPr>
        <p:spPr>
          <a:xfrm>
            <a:off x="914400" y="5212080"/>
            <a:ext cx="7315200" cy="822960"/>
          </a:xfrm>
          <a:prstGeom prst="rect">
            <a:avLst/>
          </a:prstGeom>
          <a:solidFill>
            <a:srgbClr val="F5F1EC"/>
          </a:solidFill>
          <a:ln cap="flat" cmpd="sng" w="254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1097280" y="5394960"/>
            <a:ext cx="457200" cy="457200"/>
          </a:xfrm>
          <a:prstGeom prst="ellipse">
            <a:avLst/>
          </a:prstGeom>
          <a:solidFill>
            <a:srgbClr val="2C3E50"/>
          </a:solidFill>
          <a:ln cap="flat" cmpd="sng" w="12700">
            <a:solidFill>
              <a:srgbClr val="2C3E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1097280" y="53949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47" name="Google Shape;47;p4"/>
          <p:cNvSpPr/>
          <p:nvPr/>
        </p:nvSpPr>
        <p:spPr>
          <a:xfrm>
            <a:off x="1737360" y="53035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Jarvis (AI)</a:t>
            </a:r>
            <a:endParaRPr sz="1600">
              <a:solidFill>
                <a:schemeClr val="dk1"/>
              </a:solidFill>
              <a:latin typeface="Calibri"/>
              <a:ea typeface="Calibri"/>
              <a:cs typeface="Calibri"/>
              <a:sym typeface="Calibri"/>
            </a:endParaRPr>
          </a:p>
        </p:txBody>
      </p:sp>
      <p:sp>
        <p:nvSpPr>
          <p:cNvPr id="48" name="Google Shape;48;p4"/>
          <p:cNvSpPr/>
          <p:nvPr/>
        </p:nvSpPr>
        <p:spPr>
          <a:xfrm>
            <a:off x="1737360" y="562356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Analytical Partner | Code Assistant | Reviewer</a:t>
            </a:r>
            <a:endParaRPr sz="1200">
              <a:solidFill>
                <a:schemeClr val="dk1"/>
              </a:solidFill>
              <a:latin typeface="Calibri"/>
              <a:ea typeface="Calibri"/>
              <a:cs typeface="Calibri"/>
              <a:sym typeface="Calibri"/>
            </a:endParaRPr>
          </a:p>
        </p:txBody>
      </p:sp>
      <p:sp>
        <p:nvSpPr>
          <p:cNvPr id="49" name="Google Shape;49;p4"/>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50" name="Google Shape;50;p4"/>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5"/>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The Problem: We're Breaking Our Promises</a:t>
            </a:r>
            <a:endParaRPr sz="2800">
              <a:solidFill>
                <a:schemeClr val="dk1"/>
              </a:solidFill>
              <a:latin typeface="Calibri"/>
              <a:ea typeface="Calibri"/>
              <a:cs typeface="Calibri"/>
              <a:sym typeface="Calibri"/>
            </a:endParaRPr>
          </a:p>
        </p:txBody>
      </p:sp>
      <p:sp>
        <p:nvSpPr>
          <p:cNvPr id="57" name="Google Shape;57;p5"/>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Customers expect 12 minutes. We deliver in 30.</a:t>
            </a:r>
            <a:endParaRPr sz="1400">
              <a:solidFill>
                <a:schemeClr val="dk1"/>
              </a:solidFill>
              <a:latin typeface="Calibri"/>
              <a:ea typeface="Calibri"/>
              <a:cs typeface="Calibri"/>
              <a:sym typeface="Calibri"/>
            </a:endParaRPr>
          </a:p>
        </p:txBody>
      </p:sp>
      <p:sp>
        <p:nvSpPr>
          <p:cNvPr id="59" name="Google Shape;59;p5"/>
          <p:cNvSpPr/>
          <p:nvPr/>
        </p:nvSpPr>
        <p:spPr>
          <a:xfrm>
            <a:off x="457200" y="1463040"/>
            <a:ext cx="8229600" cy="365760"/>
          </a:xfrm>
          <a:prstGeom prst="rect">
            <a:avLst/>
          </a:prstGeom>
          <a:solidFill>
            <a:srgbClr val="2C3E50"/>
          </a:solidFill>
          <a:ln cap="flat" cmpd="sng" w="12700">
            <a:solidFill>
              <a:srgbClr val="2C3E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548640" y="1463040"/>
            <a:ext cx="8046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A66E"/>
              </a:buClr>
              <a:buSzPts val="1000"/>
              <a:buFont typeface="Calibri"/>
              <a:buNone/>
            </a:pPr>
            <a:r>
              <a:rPr b="1" lang="en-US" sz="1000">
                <a:solidFill>
                  <a:srgbClr val="F1A66E"/>
                </a:solidFill>
                <a:latin typeface="Calibri"/>
                <a:ea typeface="Calibri"/>
                <a:cs typeface="Calibri"/>
                <a:sym typeface="Calibri"/>
              </a:rPr>
              <a:t>PRESENTING AS  </a:t>
            </a:r>
            <a:r>
              <a:rPr b="1" lang="en-US" sz="1200">
                <a:solidFill>
                  <a:srgbClr val="FFFFFF"/>
                </a:solidFill>
                <a:latin typeface="Calibri"/>
                <a:ea typeface="Calibri"/>
                <a:cs typeface="Calibri"/>
                <a:sym typeface="Calibri"/>
              </a:rPr>
              <a:t>Data analytics team</a:t>
            </a:r>
            <a:r>
              <a:rPr lang="en-US" sz="1200">
                <a:solidFill>
                  <a:srgbClr val="F1A66E"/>
                </a:solidFill>
                <a:latin typeface="Calibri"/>
                <a:ea typeface="Calibri"/>
                <a:cs typeface="Calibri"/>
                <a:sym typeface="Calibri"/>
              </a:rPr>
              <a:t>    →    </a:t>
            </a:r>
            <a:r>
              <a:rPr b="1" lang="en-US" sz="1000">
                <a:solidFill>
                  <a:srgbClr val="F1A66E"/>
                </a:solidFill>
                <a:latin typeface="Calibri"/>
                <a:ea typeface="Calibri"/>
                <a:cs typeface="Calibri"/>
                <a:sym typeface="Calibri"/>
              </a:rPr>
              <a:t>TO  </a:t>
            </a:r>
            <a:r>
              <a:rPr i="1" lang="en-US" sz="1200">
                <a:solidFill>
                  <a:srgbClr val="FFFFFF"/>
                </a:solidFill>
                <a:latin typeface="Calibri"/>
                <a:ea typeface="Calibri"/>
                <a:cs typeface="Calibri"/>
                <a:sym typeface="Calibri"/>
              </a:rPr>
              <a:t>Operations leadership at our delivery platform</a:t>
            </a:r>
            <a:endParaRPr sz="1000">
              <a:solidFill>
                <a:schemeClr val="dk1"/>
              </a:solidFill>
              <a:latin typeface="Calibri"/>
              <a:ea typeface="Calibri"/>
              <a:cs typeface="Calibri"/>
              <a:sym typeface="Calibri"/>
            </a:endParaRPr>
          </a:p>
        </p:txBody>
      </p:sp>
      <p:pic>
        <p:nvPicPr>
          <p:cNvPr descr="/home/claude/images/ESTIMATED_VS_REAL.png" id="61" name="Google Shape;61;p5"/>
          <p:cNvPicPr preferRelativeResize="0"/>
          <p:nvPr/>
        </p:nvPicPr>
        <p:blipFill rotWithShape="1">
          <a:blip r:embed="rId3">
            <a:alphaModFix/>
          </a:blip>
          <a:srcRect b="0" l="0" r="0" t="0"/>
          <a:stretch/>
        </p:blipFill>
        <p:spPr>
          <a:xfrm>
            <a:off x="457200" y="2011680"/>
            <a:ext cx="5212080" cy="3200400"/>
          </a:xfrm>
          <a:prstGeom prst="rect">
            <a:avLst/>
          </a:prstGeom>
          <a:noFill/>
          <a:ln>
            <a:noFill/>
          </a:ln>
        </p:spPr>
      </p:pic>
      <p:sp>
        <p:nvSpPr>
          <p:cNvPr id="62" name="Google Shape;62;p5"/>
          <p:cNvSpPr/>
          <p:nvPr/>
        </p:nvSpPr>
        <p:spPr>
          <a:xfrm>
            <a:off x="5760720" y="1874520"/>
            <a:ext cx="2926080" cy="352044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5760720" y="2468880"/>
            <a:ext cx="292608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17.6 min</a:t>
            </a:r>
            <a:endParaRPr sz="5400">
              <a:solidFill>
                <a:schemeClr val="dk1"/>
              </a:solidFill>
              <a:latin typeface="Calibri"/>
              <a:ea typeface="Calibri"/>
              <a:cs typeface="Calibri"/>
              <a:sym typeface="Calibri"/>
            </a:endParaRPr>
          </a:p>
        </p:txBody>
      </p:sp>
      <p:sp>
        <p:nvSpPr>
          <p:cNvPr id="64" name="Google Shape;64;p5"/>
          <p:cNvSpPr/>
          <p:nvPr/>
        </p:nvSpPr>
        <p:spPr>
          <a:xfrm>
            <a:off x="5760720" y="3520440"/>
            <a:ext cx="29260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AVERAGE GAP</a:t>
            </a:r>
            <a:endParaRPr sz="1200">
              <a:solidFill>
                <a:schemeClr val="dk1"/>
              </a:solidFill>
              <a:latin typeface="Calibri"/>
              <a:ea typeface="Calibri"/>
              <a:cs typeface="Calibri"/>
              <a:sym typeface="Calibri"/>
            </a:endParaRPr>
          </a:p>
        </p:txBody>
      </p:sp>
      <p:sp>
        <p:nvSpPr>
          <p:cNvPr id="65" name="Google Shape;65;p5"/>
          <p:cNvSpPr/>
          <p:nvPr/>
        </p:nvSpPr>
        <p:spPr>
          <a:xfrm>
            <a:off x="5943600" y="3931920"/>
            <a:ext cx="2560320" cy="12801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i="1" lang="en-US" sz="1200">
                <a:solidFill>
                  <a:srgbClr val="FFFFFF"/>
                </a:solidFill>
                <a:latin typeface="Calibri"/>
                <a:ea typeface="Calibri"/>
                <a:cs typeface="Calibri"/>
                <a:sym typeface="Calibri"/>
              </a:rPr>
              <a:t>between what we promise customers and what we actually deliver</a:t>
            </a:r>
            <a:endParaRPr sz="1200">
              <a:solidFill>
                <a:schemeClr val="dk1"/>
              </a:solidFill>
              <a:latin typeface="Calibri"/>
              <a:ea typeface="Calibri"/>
              <a:cs typeface="Calibri"/>
              <a:sym typeface="Calibri"/>
            </a:endParaRPr>
          </a:p>
        </p:txBody>
      </p:sp>
      <p:sp>
        <p:nvSpPr>
          <p:cNvPr id="66" name="Google Shape;66;p5"/>
          <p:cNvSpPr/>
          <p:nvPr/>
        </p:nvSpPr>
        <p:spPr>
          <a:xfrm>
            <a:off x="457200" y="5577840"/>
            <a:ext cx="8229600" cy="64008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640080" y="5577840"/>
            <a:ext cx="78638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300"/>
              <a:buFont typeface="Calibri"/>
              <a:buNone/>
            </a:pPr>
            <a:r>
              <a:rPr b="1" lang="en-US" sz="1300">
                <a:solidFill>
                  <a:schemeClr val="dk1"/>
                </a:solidFill>
                <a:latin typeface="Calibri"/>
                <a:ea typeface="Calibri"/>
                <a:cs typeface="Calibri"/>
                <a:sym typeface="Calibri"/>
              </a:rPr>
              <a:t>This isn't just an operations issue, it's a credibility issue.</a:t>
            </a:r>
            <a:r>
              <a:rPr b="1" i="1" lang="en-US" sz="1300">
                <a:solidFill>
                  <a:schemeClr val="dk1"/>
                </a:solidFill>
                <a:latin typeface="Calibri"/>
                <a:ea typeface="Calibri"/>
                <a:cs typeface="Calibri"/>
                <a:sym typeface="Calibri"/>
              </a:rPr>
              <a:t> Every broken ETA erodes customer trust.</a:t>
            </a:r>
            <a:endParaRPr b="1" sz="1300">
              <a:solidFill>
                <a:schemeClr val="dk1"/>
              </a:solidFill>
              <a:latin typeface="Calibri"/>
              <a:ea typeface="Calibri"/>
              <a:cs typeface="Calibri"/>
              <a:sym typeface="Calibri"/>
            </a:endParaRPr>
          </a:p>
        </p:txBody>
      </p:sp>
      <p:sp>
        <p:nvSpPr>
          <p:cNvPr id="68" name="Google Shape;68;p5"/>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69" name="Google Shape;69;p5"/>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6"/>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Who We Serve &amp; What We're Asking</a:t>
            </a:r>
            <a:endParaRPr sz="2800">
              <a:solidFill>
                <a:schemeClr val="dk1"/>
              </a:solidFill>
              <a:latin typeface="Calibri"/>
              <a:ea typeface="Calibri"/>
              <a:cs typeface="Calibri"/>
              <a:sym typeface="Calibri"/>
            </a:endParaRPr>
          </a:p>
        </p:txBody>
      </p:sp>
      <p:sp>
        <p:nvSpPr>
          <p:cNvPr id="76" name="Google Shape;76;p6"/>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Our role as the platform's analytics team</a:t>
            </a:r>
            <a:endParaRPr sz="1400">
              <a:solidFill>
                <a:schemeClr val="dk1"/>
              </a:solidFill>
              <a:latin typeface="Calibri"/>
              <a:ea typeface="Calibri"/>
              <a:cs typeface="Calibri"/>
              <a:sym typeface="Calibri"/>
            </a:endParaRPr>
          </a:p>
        </p:txBody>
      </p:sp>
      <p:sp>
        <p:nvSpPr>
          <p:cNvPr id="78" name="Google Shape;78;p6"/>
          <p:cNvSpPr/>
          <p:nvPr/>
        </p:nvSpPr>
        <p:spPr>
          <a:xfrm>
            <a:off x="457200" y="1609679"/>
            <a:ext cx="8229600" cy="1280160"/>
          </a:xfrm>
          <a:prstGeom prst="rect">
            <a:avLst/>
          </a:prstGeom>
          <a:solidFill>
            <a:srgbClr val="2C3E50"/>
          </a:solidFill>
          <a:ln cap="flat" cmpd="sng" w="12700">
            <a:solidFill>
              <a:srgbClr val="2C3E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457200" y="169164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A66E"/>
              </a:buClr>
              <a:buSzPts val="1100"/>
              <a:buFont typeface="Calibri"/>
              <a:buNone/>
            </a:pPr>
            <a:r>
              <a:rPr b="1" lang="en-US" sz="1100">
                <a:solidFill>
                  <a:srgbClr val="F1A66E"/>
                </a:solidFill>
                <a:latin typeface="Calibri"/>
                <a:ea typeface="Calibri"/>
                <a:cs typeface="Calibri"/>
                <a:sym typeface="Calibri"/>
              </a:rPr>
              <a:t>CENTRAL QUESTION</a:t>
            </a:r>
            <a:endParaRPr sz="1100">
              <a:solidFill>
                <a:schemeClr val="dk1"/>
              </a:solidFill>
              <a:latin typeface="Calibri"/>
              <a:ea typeface="Calibri"/>
              <a:cs typeface="Calibri"/>
              <a:sym typeface="Calibri"/>
            </a:endParaRPr>
          </a:p>
        </p:txBody>
      </p:sp>
      <p:sp>
        <p:nvSpPr>
          <p:cNvPr id="80" name="Google Shape;80;p6"/>
          <p:cNvSpPr/>
          <p:nvPr/>
        </p:nvSpPr>
        <p:spPr>
          <a:xfrm>
            <a:off x="457200" y="205740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i="1" lang="en-US" sz="1700">
                <a:solidFill>
                  <a:srgbClr val="FFFFFF"/>
                </a:solidFill>
                <a:latin typeface="Calibri"/>
                <a:ea typeface="Calibri"/>
                <a:cs typeface="Calibri"/>
                <a:sym typeface="Calibri"/>
              </a:rPr>
              <a:t>What operational and behavioral factors most predict pizza</a:t>
            </a:r>
            <a:endParaRPr sz="1700">
              <a:solidFill>
                <a:schemeClr val="dk1"/>
              </a:solidFill>
              <a:latin typeface="Calibri"/>
              <a:ea typeface="Calibri"/>
              <a:cs typeface="Calibri"/>
              <a:sym typeface="Calibri"/>
            </a:endParaRPr>
          </a:p>
        </p:txBody>
      </p:sp>
      <p:sp>
        <p:nvSpPr>
          <p:cNvPr id="81" name="Google Shape;81;p6"/>
          <p:cNvSpPr/>
          <p:nvPr/>
        </p:nvSpPr>
        <p:spPr>
          <a:xfrm>
            <a:off x="457200" y="242316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i="1" lang="en-US" sz="1700">
                <a:solidFill>
                  <a:srgbClr val="FFFFFF"/>
                </a:solidFill>
                <a:latin typeface="Calibri"/>
                <a:ea typeface="Calibri"/>
                <a:cs typeface="Calibri"/>
                <a:sym typeface="Calibri"/>
              </a:rPr>
              <a:t>delivery delays, and what should we do about it?</a:t>
            </a:r>
            <a:endParaRPr sz="1700">
              <a:solidFill>
                <a:schemeClr val="dk1"/>
              </a:solidFill>
              <a:latin typeface="Calibri"/>
              <a:ea typeface="Calibri"/>
              <a:cs typeface="Calibri"/>
              <a:sym typeface="Calibri"/>
            </a:endParaRPr>
          </a:p>
        </p:txBody>
      </p:sp>
      <p:sp>
        <p:nvSpPr>
          <p:cNvPr id="82" name="Google Shape;82;p6"/>
          <p:cNvSpPr/>
          <p:nvPr/>
        </p:nvSpPr>
        <p:spPr>
          <a:xfrm>
            <a:off x="457200" y="315468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1100"/>
              <a:buFont typeface="Calibri"/>
              <a:buNone/>
            </a:pPr>
            <a:r>
              <a:rPr b="1" lang="en-US" sz="1100">
                <a:solidFill>
                  <a:srgbClr val="B85042"/>
                </a:solidFill>
                <a:latin typeface="Calibri"/>
                <a:ea typeface="Calibri"/>
                <a:cs typeface="Calibri"/>
                <a:sym typeface="Calibri"/>
              </a:rPr>
              <a:t>OUR STAKEHOLDERS</a:t>
            </a:r>
            <a:endParaRPr sz="1100">
              <a:solidFill>
                <a:schemeClr val="dk1"/>
              </a:solidFill>
              <a:latin typeface="Calibri"/>
              <a:ea typeface="Calibri"/>
              <a:cs typeface="Calibri"/>
              <a:sym typeface="Calibri"/>
            </a:endParaRPr>
          </a:p>
        </p:txBody>
      </p:sp>
      <p:sp>
        <p:nvSpPr>
          <p:cNvPr id="83" name="Google Shape;83;p6"/>
          <p:cNvSpPr/>
          <p:nvPr/>
        </p:nvSpPr>
        <p:spPr>
          <a:xfrm>
            <a:off x="457200" y="3566160"/>
            <a:ext cx="1920240" cy="169164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502920" y="3657600"/>
            <a:ext cx="18288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Dispatch &amp; Drivers</a:t>
            </a:r>
            <a:endParaRPr sz="1400">
              <a:solidFill>
                <a:schemeClr val="dk1"/>
              </a:solidFill>
              <a:latin typeface="Calibri"/>
              <a:ea typeface="Calibri"/>
              <a:cs typeface="Calibri"/>
              <a:sym typeface="Calibri"/>
            </a:endParaRPr>
          </a:p>
        </p:txBody>
      </p:sp>
      <p:sp>
        <p:nvSpPr>
          <p:cNvPr id="85" name="Google Shape;85;p6"/>
          <p:cNvSpPr/>
          <p:nvPr/>
        </p:nvSpPr>
        <p:spPr>
          <a:xfrm>
            <a:off x="548640" y="4297680"/>
            <a:ext cx="173736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Manages drivers, routing, and on-the-road decisions</a:t>
            </a:r>
            <a:endParaRPr sz="1000">
              <a:solidFill>
                <a:schemeClr val="dk1"/>
              </a:solidFill>
              <a:latin typeface="Calibri"/>
              <a:ea typeface="Calibri"/>
              <a:cs typeface="Calibri"/>
              <a:sym typeface="Calibri"/>
            </a:endParaRPr>
          </a:p>
        </p:txBody>
      </p:sp>
      <p:sp>
        <p:nvSpPr>
          <p:cNvPr id="86" name="Google Shape;86;p6"/>
          <p:cNvSpPr/>
          <p:nvPr/>
        </p:nvSpPr>
        <p:spPr>
          <a:xfrm>
            <a:off x="2542032" y="3566160"/>
            <a:ext cx="1920240" cy="169164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2587752" y="3657600"/>
            <a:ext cx="18288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Customer Experience</a:t>
            </a:r>
            <a:endParaRPr sz="1400">
              <a:solidFill>
                <a:schemeClr val="dk1"/>
              </a:solidFill>
              <a:latin typeface="Calibri"/>
              <a:ea typeface="Calibri"/>
              <a:cs typeface="Calibri"/>
              <a:sym typeface="Calibri"/>
            </a:endParaRPr>
          </a:p>
        </p:txBody>
      </p:sp>
      <p:sp>
        <p:nvSpPr>
          <p:cNvPr id="88" name="Google Shape;88;p6"/>
          <p:cNvSpPr/>
          <p:nvPr/>
        </p:nvSpPr>
        <p:spPr>
          <a:xfrm>
            <a:off x="2633472" y="4297680"/>
            <a:ext cx="173736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Owns the app, ETA promises, and customer trust</a:t>
            </a:r>
            <a:endParaRPr sz="1000">
              <a:solidFill>
                <a:schemeClr val="dk1"/>
              </a:solidFill>
              <a:latin typeface="Calibri"/>
              <a:ea typeface="Calibri"/>
              <a:cs typeface="Calibri"/>
              <a:sym typeface="Calibri"/>
            </a:endParaRPr>
          </a:p>
        </p:txBody>
      </p:sp>
      <p:sp>
        <p:nvSpPr>
          <p:cNvPr id="89" name="Google Shape;89;p6"/>
          <p:cNvSpPr/>
          <p:nvPr/>
        </p:nvSpPr>
        <p:spPr>
          <a:xfrm>
            <a:off x="4626864" y="3566160"/>
            <a:ext cx="1920240" cy="169164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4672584" y="3657600"/>
            <a:ext cx="18288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Executive Leadership</a:t>
            </a:r>
            <a:endParaRPr sz="1400">
              <a:solidFill>
                <a:schemeClr val="dk1"/>
              </a:solidFill>
              <a:latin typeface="Calibri"/>
              <a:ea typeface="Calibri"/>
              <a:cs typeface="Calibri"/>
              <a:sym typeface="Calibri"/>
            </a:endParaRPr>
          </a:p>
        </p:txBody>
      </p:sp>
      <p:sp>
        <p:nvSpPr>
          <p:cNvPr id="91" name="Google Shape;91;p6"/>
          <p:cNvSpPr/>
          <p:nvPr/>
        </p:nvSpPr>
        <p:spPr>
          <a:xfrm>
            <a:off x="4718304" y="4297680"/>
            <a:ext cx="173736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Sets budget and decides where to invest resources</a:t>
            </a:r>
            <a:endParaRPr sz="1000">
              <a:solidFill>
                <a:schemeClr val="dk1"/>
              </a:solidFill>
              <a:latin typeface="Calibri"/>
              <a:ea typeface="Calibri"/>
              <a:cs typeface="Calibri"/>
              <a:sym typeface="Calibri"/>
            </a:endParaRPr>
          </a:p>
        </p:txBody>
      </p:sp>
      <p:sp>
        <p:nvSpPr>
          <p:cNvPr id="92" name="Google Shape;92;p6"/>
          <p:cNvSpPr/>
          <p:nvPr/>
        </p:nvSpPr>
        <p:spPr>
          <a:xfrm>
            <a:off x="6711696" y="3566160"/>
            <a:ext cx="1920240" cy="169164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6757416" y="3657600"/>
            <a:ext cx="18288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Restaurant Partners</a:t>
            </a:r>
            <a:endParaRPr sz="1400">
              <a:solidFill>
                <a:schemeClr val="dk1"/>
              </a:solidFill>
              <a:latin typeface="Calibri"/>
              <a:ea typeface="Calibri"/>
              <a:cs typeface="Calibri"/>
              <a:sym typeface="Calibri"/>
            </a:endParaRPr>
          </a:p>
        </p:txBody>
      </p:sp>
      <p:sp>
        <p:nvSpPr>
          <p:cNvPr id="94" name="Google Shape;94;p6"/>
          <p:cNvSpPr/>
          <p:nvPr/>
        </p:nvSpPr>
        <p:spPr>
          <a:xfrm>
            <a:off x="6803136" y="4297680"/>
            <a:ext cx="173736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Brands like Domino's, Papa John's whose name is on the order</a:t>
            </a:r>
            <a:endParaRPr sz="1000">
              <a:solidFill>
                <a:schemeClr val="dk1"/>
              </a:solidFill>
              <a:latin typeface="Calibri"/>
              <a:ea typeface="Calibri"/>
              <a:cs typeface="Calibri"/>
              <a:sym typeface="Calibri"/>
            </a:endParaRPr>
          </a:p>
        </p:txBody>
      </p:sp>
      <p:sp>
        <p:nvSpPr>
          <p:cNvPr id="95" name="Google Shape;95;p6"/>
          <p:cNvSpPr/>
          <p:nvPr/>
        </p:nvSpPr>
        <p:spPr>
          <a:xfrm>
            <a:off x="457200" y="5440680"/>
            <a:ext cx="8229600" cy="77724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640080" y="5440680"/>
            <a:ext cx="78638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A66E"/>
              </a:buClr>
              <a:buSzPts val="1100"/>
              <a:buFont typeface="Calibri"/>
              <a:buNone/>
            </a:pPr>
            <a:r>
              <a:rPr b="1" lang="en-US" sz="1100">
                <a:solidFill>
                  <a:srgbClr val="F1A66E"/>
                </a:solidFill>
                <a:latin typeface="Calibri"/>
                <a:ea typeface="Calibri"/>
                <a:cs typeface="Calibri"/>
                <a:sym typeface="Calibri"/>
              </a:rPr>
              <a:t>OUR ROLE   </a:t>
            </a:r>
            <a:r>
              <a:rPr i="1" lang="en-US" sz="1300">
                <a:solidFill>
                  <a:srgbClr val="FFFFFF"/>
                </a:solidFill>
                <a:latin typeface="Calibri"/>
                <a:ea typeface="Calibri"/>
                <a:cs typeface="Calibri"/>
                <a:sym typeface="Calibri"/>
              </a:rPr>
              <a:t>Translate operational data into evidence-based recommendations leadership can act on.</a:t>
            </a:r>
            <a:endParaRPr sz="1100">
              <a:solidFill>
                <a:schemeClr val="dk1"/>
              </a:solidFill>
              <a:latin typeface="Calibri"/>
              <a:ea typeface="Calibri"/>
              <a:cs typeface="Calibri"/>
              <a:sym typeface="Calibri"/>
            </a:endParaRPr>
          </a:p>
        </p:txBody>
      </p:sp>
      <p:sp>
        <p:nvSpPr>
          <p:cNvPr id="97" name="Google Shape;97;p6"/>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98" name="Google Shape;98;p6"/>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7"/>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About Our Data</a:t>
            </a:r>
            <a:endParaRPr sz="2800">
              <a:solidFill>
                <a:schemeClr val="dk1"/>
              </a:solidFill>
              <a:latin typeface="Calibri"/>
              <a:ea typeface="Calibri"/>
              <a:cs typeface="Calibri"/>
              <a:sym typeface="Calibri"/>
            </a:endParaRPr>
          </a:p>
        </p:txBody>
      </p:sp>
      <p:sp>
        <p:nvSpPr>
          <p:cNvPr id="105" name="Google Shape;105;p7"/>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457200" y="1371600"/>
            <a:ext cx="8229600" cy="640080"/>
          </a:xfrm>
          <a:prstGeom prst="rect">
            <a:avLst/>
          </a:prstGeom>
          <a:solidFill>
            <a:srgbClr val="2C3E50"/>
          </a:solidFill>
          <a:ln cap="flat" cmpd="sng" w="12700">
            <a:solidFill>
              <a:srgbClr val="2C3E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640080" y="137160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A66E"/>
              </a:buClr>
              <a:buSzPts val="1300"/>
              <a:buFont typeface="Calibri"/>
              <a:buNone/>
            </a:pPr>
            <a:r>
              <a:rPr b="1" lang="en-US" sz="1300">
                <a:solidFill>
                  <a:srgbClr val="F1A66E"/>
                </a:solidFill>
                <a:latin typeface="Calibri"/>
                <a:ea typeface="Calibri"/>
                <a:cs typeface="Calibri"/>
                <a:sym typeface="Calibri"/>
              </a:rPr>
              <a:t>IMPORTANT: </a:t>
            </a:r>
            <a:r>
              <a:rPr lang="en-US" sz="1300">
                <a:solidFill>
                  <a:srgbClr val="FFFFFF"/>
                </a:solidFill>
                <a:latin typeface="Calibri"/>
                <a:ea typeface="Calibri"/>
                <a:cs typeface="Calibri"/>
                <a:sym typeface="Calibri"/>
              </a:rPr>
              <a:t>This analysis uses a </a:t>
            </a:r>
            <a:r>
              <a:rPr b="1" lang="en-US" sz="1300">
                <a:solidFill>
                  <a:srgbClr val="FFFFFF"/>
                </a:solidFill>
                <a:latin typeface="Calibri"/>
                <a:ea typeface="Calibri"/>
                <a:cs typeface="Calibri"/>
                <a:sym typeface="Calibri"/>
              </a:rPr>
              <a:t>synthetic dataset</a:t>
            </a:r>
            <a:r>
              <a:rPr lang="en-US" sz="1300">
                <a:solidFill>
                  <a:srgbClr val="FFFFFF"/>
                </a:solidFill>
                <a:latin typeface="Calibri"/>
                <a:ea typeface="Calibri"/>
                <a:cs typeface="Calibri"/>
                <a:sym typeface="Calibri"/>
              </a:rPr>
              <a:t> for academic purposes. Patterns are realistic but data is generated.</a:t>
            </a:r>
            <a:endParaRPr sz="1300">
              <a:solidFill>
                <a:schemeClr val="dk1"/>
              </a:solidFill>
              <a:latin typeface="Calibri"/>
              <a:ea typeface="Calibri"/>
              <a:cs typeface="Calibri"/>
              <a:sym typeface="Calibri"/>
            </a:endParaRPr>
          </a:p>
        </p:txBody>
      </p:sp>
      <p:sp>
        <p:nvSpPr>
          <p:cNvPr id="108" name="Google Shape;108;p7"/>
          <p:cNvSpPr/>
          <p:nvPr/>
        </p:nvSpPr>
        <p:spPr>
          <a:xfrm>
            <a:off x="457200" y="2286000"/>
            <a:ext cx="3931920" cy="150876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640080" y="2468880"/>
            <a:ext cx="36576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4800"/>
              <a:buFont typeface="Calibri"/>
              <a:buNone/>
            </a:pPr>
            <a:r>
              <a:rPr b="1" lang="en-US" sz="4800">
                <a:solidFill>
                  <a:srgbClr val="B85042"/>
                </a:solidFill>
                <a:latin typeface="Calibri"/>
                <a:ea typeface="Calibri"/>
                <a:cs typeface="Calibri"/>
                <a:sym typeface="Calibri"/>
              </a:rPr>
              <a:t>1,004</a:t>
            </a:r>
            <a:endParaRPr sz="4800">
              <a:solidFill>
                <a:schemeClr val="dk1"/>
              </a:solidFill>
              <a:latin typeface="Calibri"/>
              <a:ea typeface="Calibri"/>
              <a:cs typeface="Calibri"/>
              <a:sym typeface="Calibri"/>
            </a:endParaRPr>
          </a:p>
        </p:txBody>
      </p:sp>
      <p:sp>
        <p:nvSpPr>
          <p:cNvPr id="110" name="Google Shape;110;p7"/>
          <p:cNvSpPr/>
          <p:nvPr/>
        </p:nvSpPr>
        <p:spPr>
          <a:xfrm>
            <a:off x="640080" y="3273552"/>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300"/>
              <a:buFont typeface="Calibri"/>
              <a:buNone/>
            </a:pPr>
            <a:r>
              <a:rPr lang="en-US" sz="1300">
                <a:solidFill>
                  <a:srgbClr val="1F2937"/>
                </a:solidFill>
                <a:latin typeface="Calibri"/>
                <a:ea typeface="Calibri"/>
                <a:cs typeface="Calibri"/>
                <a:sym typeface="Calibri"/>
              </a:rPr>
              <a:t>Total Deliveries Analyzed</a:t>
            </a:r>
            <a:endParaRPr sz="1300">
              <a:solidFill>
                <a:schemeClr val="dk1"/>
              </a:solidFill>
              <a:latin typeface="Calibri"/>
              <a:ea typeface="Calibri"/>
              <a:cs typeface="Calibri"/>
              <a:sym typeface="Calibri"/>
            </a:endParaRPr>
          </a:p>
        </p:txBody>
      </p:sp>
      <p:sp>
        <p:nvSpPr>
          <p:cNvPr id="111" name="Google Shape;111;p7"/>
          <p:cNvSpPr/>
          <p:nvPr/>
        </p:nvSpPr>
        <p:spPr>
          <a:xfrm>
            <a:off x="4754880" y="2286000"/>
            <a:ext cx="3931920" cy="150876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4937760" y="2468880"/>
            <a:ext cx="36576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4800"/>
              <a:buFont typeface="Calibri"/>
              <a:buNone/>
            </a:pPr>
            <a:r>
              <a:rPr b="1" lang="en-US" sz="4800">
                <a:solidFill>
                  <a:srgbClr val="B85042"/>
                </a:solidFill>
                <a:latin typeface="Calibri"/>
                <a:ea typeface="Calibri"/>
                <a:cs typeface="Calibri"/>
                <a:sym typeface="Calibri"/>
              </a:rPr>
              <a:t>5</a:t>
            </a:r>
            <a:endParaRPr sz="4800">
              <a:solidFill>
                <a:schemeClr val="dk1"/>
              </a:solidFill>
              <a:latin typeface="Calibri"/>
              <a:ea typeface="Calibri"/>
              <a:cs typeface="Calibri"/>
              <a:sym typeface="Calibri"/>
            </a:endParaRPr>
          </a:p>
        </p:txBody>
      </p:sp>
      <p:sp>
        <p:nvSpPr>
          <p:cNvPr id="113" name="Google Shape;113;p7"/>
          <p:cNvSpPr/>
          <p:nvPr/>
        </p:nvSpPr>
        <p:spPr>
          <a:xfrm>
            <a:off x="4937760" y="3273552"/>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300"/>
              <a:buFont typeface="Calibri"/>
              <a:buNone/>
            </a:pPr>
            <a:r>
              <a:rPr lang="en-US" sz="1300">
                <a:solidFill>
                  <a:srgbClr val="1F2937"/>
                </a:solidFill>
                <a:latin typeface="Calibri"/>
                <a:ea typeface="Calibri"/>
                <a:cs typeface="Calibri"/>
                <a:sym typeface="Calibri"/>
              </a:rPr>
              <a:t>Restaurant Brands</a:t>
            </a:r>
            <a:endParaRPr sz="1300">
              <a:solidFill>
                <a:schemeClr val="dk1"/>
              </a:solidFill>
              <a:latin typeface="Calibri"/>
              <a:ea typeface="Calibri"/>
              <a:cs typeface="Calibri"/>
              <a:sym typeface="Calibri"/>
            </a:endParaRPr>
          </a:p>
        </p:txBody>
      </p:sp>
      <p:sp>
        <p:nvSpPr>
          <p:cNvPr id="114" name="Google Shape;114;p7"/>
          <p:cNvSpPr/>
          <p:nvPr/>
        </p:nvSpPr>
        <p:spPr>
          <a:xfrm>
            <a:off x="457200" y="3977640"/>
            <a:ext cx="3931920" cy="150876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640080" y="4160520"/>
            <a:ext cx="36576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4800"/>
              <a:buFont typeface="Calibri"/>
              <a:buNone/>
            </a:pPr>
            <a:r>
              <a:rPr b="1" lang="en-US" sz="4800">
                <a:solidFill>
                  <a:srgbClr val="B85042"/>
                </a:solidFill>
                <a:latin typeface="Calibri"/>
                <a:ea typeface="Calibri"/>
                <a:cs typeface="Calibri"/>
                <a:sym typeface="Calibri"/>
              </a:rPr>
              <a:t>84</a:t>
            </a:r>
            <a:endParaRPr sz="4800">
              <a:solidFill>
                <a:schemeClr val="dk1"/>
              </a:solidFill>
              <a:latin typeface="Calibri"/>
              <a:ea typeface="Calibri"/>
              <a:cs typeface="Calibri"/>
              <a:sym typeface="Calibri"/>
            </a:endParaRPr>
          </a:p>
        </p:txBody>
      </p:sp>
      <p:sp>
        <p:nvSpPr>
          <p:cNvPr id="116" name="Google Shape;116;p7"/>
          <p:cNvSpPr/>
          <p:nvPr/>
        </p:nvSpPr>
        <p:spPr>
          <a:xfrm>
            <a:off x="640080" y="4965192"/>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300"/>
              <a:buFont typeface="Calibri"/>
              <a:buNone/>
            </a:pPr>
            <a:r>
              <a:rPr lang="en-US" sz="1300">
                <a:solidFill>
                  <a:srgbClr val="1F2937"/>
                </a:solidFill>
                <a:latin typeface="Calibri"/>
                <a:ea typeface="Calibri"/>
                <a:cs typeface="Calibri"/>
                <a:sym typeface="Calibri"/>
              </a:rPr>
              <a:t>Locations Across U.S.</a:t>
            </a:r>
            <a:endParaRPr sz="1300">
              <a:solidFill>
                <a:schemeClr val="dk1"/>
              </a:solidFill>
              <a:latin typeface="Calibri"/>
              <a:ea typeface="Calibri"/>
              <a:cs typeface="Calibri"/>
              <a:sym typeface="Calibri"/>
            </a:endParaRPr>
          </a:p>
        </p:txBody>
      </p:sp>
      <p:sp>
        <p:nvSpPr>
          <p:cNvPr id="117" name="Google Shape;117;p7"/>
          <p:cNvSpPr/>
          <p:nvPr/>
        </p:nvSpPr>
        <p:spPr>
          <a:xfrm>
            <a:off x="4754880" y="3977640"/>
            <a:ext cx="3931920" cy="150876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4937760" y="4160520"/>
            <a:ext cx="36576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4800"/>
              <a:buFont typeface="Calibri"/>
              <a:buNone/>
            </a:pPr>
            <a:r>
              <a:rPr b="1" lang="en-US" sz="4800">
                <a:solidFill>
                  <a:srgbClr val="B85042"/>
                </a:solidFill>
                <a:latin typeface="Calibri"/>
                <a:ea typeface="Calibri"/>
                <a:cs typeface="Calibri"/>
                <a:sym typeface="Calibri"/>
              </a:rPr>
              <a:t>21%</a:t>
            </a:r>
            <a:endParaRPr sz="4800">
              <a:solidFill>
                <a:schemeClr val="dk1"/>
              </a:solidFill>
              <a:latin typeface="Calibri"/>
              <a:ea typeface="Calibri"/>
              <a:cs typeface="Calibri"/>
              <a:sym typeface="Calibri"/>
            </a:endParaRPr>
          </a:p>
        </p:txBody>
      </p:sp>
      <p:sp>
        <p:nvSpPr>
          <p:cNvPr id="119" name="Google Shape;119;p7"/>
          <p:cNvSpPr/>
          <p:nvPr/>
        </p:nvSpPr>
        <p:spPr>
          <a:xfrm>
            <a:off x="4937760" y="4965192"/>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300"/>
              <a:buFont typeface="Calibri"/>
              <a:buNone/>
            </a:pPr>
            <a:r>
              <a:rPr lang="en-US" sz="1300">
                <a:solidFill>
                  <a:srgbClr val="1F2937"/>
                </a:solidFill>
                <a:latin typeface="Calibri"/>
                <a:ea typeface="Calibri"/>
                <a:cs typeface="Calibri"/>
                <a:sym typeface="Calibri"/>
              </a:rPr>
              <a:t>Overall Delay Rate</a:t>
            </a:r>
            <a:endParaRPr sz="1300">
              <a:solidFill>
                <a:schemeClr val="dk1"/>
              </a:solidFill>
              <a:latin typeface="Calibri"/>
              <a:ea typeface="Calibri"/>
              <a:cs typeface="Calibri"/>
              <a:sym typeface="Calibri"/>
            </a:endParaRPr>
          </a:p>
        </p:txBody>
      </p:sp>
      <p:sp>
        <p:nvSpPr>
          <p:cNvPr id="120" name="Google Shape;120;p7"/>
          <p:cNvSpPr/>
          <p:nvPr/>
        </p:nvSpPr>
        <p:spPr>
          <a:xfrm>
            <a:off x="457200" y="576072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280"/>
              </a:buClr>
              <a:buSzPts val="1100"/>
              <a:buFont typeface="Calibri"/>
              <a:buNone/>
            </a:pPr>
            <a:r>
              <a:rPr i="1" lang="en-US" sz="1100">
                <a:solidFill>
                  <a:srgbClr val="6B7280"/>
                </a:solidFill>
                <a:latin typeface="Calibri"/>
                <a:ea typeface="Calibri"/>
                <a:cs typeface="Calibri"/>
                <a:sym typeface="Calibri"/>
              </a:rPr>
              <a:t>Data sources: Order timestamps, delivery durations, restaurant info, distance, traffic conditions, pizza characteristics</a:t>
            </a:r>
            <a:endParaRPr sz="1100">
              <a:solidFill>
                <a:schemeClr val="dk1"/>
              </a:solidFill>
              <a:latin typeface="Calibri"/>
              <a:ea typeface="Calibri"/>
              <a:cs typeface="Calibri"/>
              <a:sym typeface="Calibri"/>
            </a:endParaRPr>
          </a:p>
        </p:txBody>
      </p:sp>
      <p:sp>
        <p:nvSpPr>
          <p:cNvPr id="121" name="Google Shape;121;p7"/>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122" name="Google Shape;122;p7"/>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5</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8"/>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WHEN do delays happen?</a:t>
            </a:r>
            <a:endParaRPr sz="2800">
              <a:solidFill>
                <a:schemeClr val="dk1"/>
              </a:solidFill>
              <a:latin typeface="Calibri"/>
              <a:ea typeface="Calibri"/>
              <a:cs typeface="Calibri"/>
              <a:sym typeface="Calibri"/>
            </a:endParaRPr>
          </a:p>
        </p:txBody>
      </p:sp>
      <p:sp>
        <p:nvSpPr>
          <p:cNvPr id="129" name="Google Shape;129;p8"/>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Time-of-day is the strongest pattern; day-of-week is surprisingly flat</a:t>
            </a:r>
            <a:endParaRPr sz="1400">
              <a:solidFill>
                <a:schemeClr val="dk1"/>
              </a:solidFill>
              <a:latin typeface="Calibri"/>
              <a:ea typeface="Calibri"/>
              <a:cs typeface="Calibri"/>
              <a:sym typeface="Calibri"/>
            </a:endParaRPr>
          </a:p>
        </p:txBody>
      </p:sp>
      <p:pic>
        <p:nvPicPr>
          <p:cNvPr descr="/home/claude/images/WHEN.png" id="131" name="Google Shape;131;p8"/>
          <p:cNvPicPr preferRelativeResize="0"/>
          <p:nvPr/>
        </p:nvPicPr>
        <p:blipFill rotWithShape="1">
          <a:blip r:embed="rId3">
            <a:alphaModFix/>
          </a:blip>
          <a:srcRect b="0" l="0" r="0" t="0"/>
          <a:stretch/>
        </p:blipFill>
        <p:spPr>
          <a:xfrm>
            <a:off x="274320" y="1417320"/>
            <a:ext cx="6400800" cy="3502152"/>
          </a:xfrm>
          <a:prstGeom prst="rect">
            <a:avLst/>
          </a:prstGeom>
          <a:noFill/>
          <a:ln>
            <a:noFill/>
          </a:ln>
        </p:spPr>
      </p:pic>
      <p:sp>
        <p:nvSpPr>
          <p:cNvPr id="132" name="Google Shape;132;p8"/>
          <p:cNvSpPr/>
          <p:nvPr/>
        </p:nvSpPr>
        <p:spPr>
          <a:xfrm>
            <a:off x="6812280" y="1417320"/>
            <a:ext cx="2057400" cy="3502152"/>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6903720" y="1508760"/>
            <a:ext cx="1874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lang="en-US" sz="1100">
                <a:solidFill>
                  <a:srgbClr val="B85042"/>
                </a:solidFill>
                <a:latin typeface="Calibri"/>
                <a:ea typeface="Calibri"/>
                <a:cs typeface="Calibri"/>
                <a:sym typeface="Calibri"/>
              </a:rPr>
              <a:t>KEY TAKEAWAYS</a:t>
            </a:r>
            <a:endParaRPr sz="1100">
              <a:solidFill>
                <a:schemeClr val="dk1"/>
              </a:solidFill>
              <a:latin typeface="Calibri"/>
              <a:ea typeface="Calibri"/>
              <a:cs typeface="Calibri"/>
              <a:sym typeface="Calibri"/>
            </a:endParaRPr>
          </a:p>
        </p:txBody>
      </p:sp>
      <p:sp>
        <p:nvSpPr>
          <p:cNvPr id="134" name="Google Shape;134;p8"/>
          <p:cNvSpPr/>
          <p:nvPr/>
        </p:nvSpPr>
        <p:spPr>
          <a:xfrm>
            <a:off x="6903720" y="1783080"/>
            <a:ext cx="187452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HOUR</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Delays climb steadily through the day, peaking ~8 PM</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MONTH</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Summer (May-Aug) and Dec are seasonal hotspots</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DAY OF WEEK</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Surprisingly flat — only 7 point spread</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B85042"/>
              </a:buClr>
              <a:buSzPts val="1200"/>
              <a:buFont typeface="Calibri"/>
              <a:buNone/>
            </a:pPr>
            <a:r>
              <a:rPr b="1" lang="en-US" sz="1200">
                <a:solidFill>
                  <a:srgbClr val="B85042"/>
                </a:solidFill>
                <a:latin typeface="Calibri"/>
                <a:ea typeface="Calibri"/>
                <a:cs typeface="Calibri"/>
                <a:sym typeface="Calibri"/>
              </a:rPr>
              <a:t>INSIGHT</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000"/>
              <a:buFont typeface="Calibri"/>
              <a:buNone/>
            </a:pPr>
            <a:r>
              <a:rPr i="1" lang="en-US" sz="1000">
                <a:solidFill>
                  <a:srgbClr val="1F2937"/>
                </a:solidFill>
                <a:latin typeface="Calibri"/>
                <a:ea typeface="Calibri"/>
                <a:cs typeface="Calibri"/>
                <a:sym typeface="Calibri"/>
              </a:rPr>
              <a:t>Operational lever is time-of-day staffing, not day-of-week scheduling</a:t>
            </a:r>
            <a:endParaRPr sz="1300">
              <a:solidFill>
                <a:schemeClr val="dk1"/>
              </a:solidFill>
              <a:latin typeface="Calibri"/>
              <a:ea typeface="Calibri"/>
              <a:cs typeface="Calibri"/>
              <a:sym typeface="Calibri"/>
            </a:endParaRPr>
          </a:p>
        </p:txBody>
      </p:sp>
      <p:sp>
        <p:nvSpPr>
          <p:cNvPr id="135" name="Google Shape;135;p8"/>
          <p:cNvSpPr/>
          <p:nvPr/>
        </p:nvSpPr>
        <p:spPr>
          <a:xfrm>
            <a:off x="274320" y="5120640"/>
            <a:ext cx="8595360" cy="118872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548640" y="5212080"/>
            <a:ext cx="80467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lang="en-US" sz="1100">
                <a:solidFill>
                  <a:srgbClr val="B85042"/>
                </a:solidFill>
                <a:latin typeface="Calibri"/>
                <a:ea typeface="Calibri"/>
                <a:cs typeface="Calibri"/>
                <a:sym typeface="Calibri"/>
              </a:rPr>
              <a:t>BOTTOM LINE</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r>
              <a:rPr lang="en-US" sz="400">
                <a:solidFill>
                  <a:srgbClr val="000000"/>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Time-of-day is the strongest temporal pattern. </a:t>
            </a:r>
            <a:r>
              <a:rPr i="1" lang="en-US" sz="1300">
                <a:solidFill>
                  <a:srgbClr val="6B7280"/>
                </a:solidFill>
                <a:latin typeface="Calibri"/>
                <a:ea typeface="Calibri"/>
                <a:cs typeface="Calibri"/>
                <a:sym typeface="Calibri"/>
              </a:rPr>
              <a:t>Day-of-week is essentially flat, staffing decisions should be hour-driven, not day-driven.</a:t>
            </a:r>
            <a:endParaRPr sz="1100">
              <a:solidFill>
                <a:schemeClr val="dk1"/>
              </a:solidFill>
              <a:latin typeface="Calibri"/>
              <a:ea typeface="Calibri"/>
              <a:cs typeface="Calibri"/>
              <a:sym typeface="Calibri"/>
            </a:endParaRPr>
          </a:p>
        </p:txBody>
      </p:sp>
      <p:sp>
        <p:nvSpPr>
          <p:cNvPr id="137" name="Google Shape;137;p8"/>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138" name="Google Shape;138;p8"/>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6</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9"/>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WHERE do delays happen?</a:t>
            </a:r>
            <a:endParaRPr sz="2800">
              <a:solidFill>
                <a:schemeClr val="dk1"/>
              </a:solidFill>
              <a:latin typeface="Calibri"/>
              <a:ea typeface="Calibri"/>
              <a:cs typeface="Calibri"/>
              <a:sym typeface="Calibri"/>
            </a:endParaRPr>
          </a:p>
        </p:txBody>
      </p:sp>
      <p:sp>
        <p:nvSpPr>
          <p:cNvPr id="145" name="Google Shape;145;p9"/>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Northeast leads geographically; Domino's has the highest raw delay rate</a:t>
            </a:r>
            <a:endParaRPr sz="1400">
              <a:solidFill>
                <a:schemeClr val="dk1"/>
              </a:solidFill>
              <a:latin typeface="Calibri"/>
              <a:ea typeface="Calibri"/>
              <a:cs typeface="Calibri"/>
              <a:sym typeface="Calibri"/>
            </a:endParaRPr>
          </a:p>
        </p:txBody>
      </p:sp>
      <p:pic>
        <p:nvPicPr>
          <p:cNvPr descr="/home/claude/images/WHERE.png" id="147" name="Google Shape;147;p9"/>
          <p:cNvPicPr preferRelativeResize="0"/>
          <p:nvPr/>
        </p:nvPicPr>
        <p:blipFill rotWithShape="1">
          <a:blip r:embed="rId3">
            <a:alphaModFix/>
          </a:blip>
          <a:srcRect b="0" l="0" r="0" t="0"/>
          <a:stretch/>
        </p:blipFill>
        <p:spPr>
          <a:xfrm>
            <a:off x="274320" y="1417320"/>
            <a:ext cx="6400800" cy="3502152"/>
          </a:xfrm>
          <a:prstGeom prst="rect">
            <a:avLst/>
          </a:prstGeom>
          <a:noFill/>
          <a:ln>
            <a:noFill/>
          </a:ln>
        </p:spPr>
      </p:pic>
      <p:sp>
        <p:nvSpPr>
          <p:cNvPr id="148" name="Google Shape;148;p9"/>
          <p:cNvSpPr/>
          <p:nvPr/>
        </p:nvSpPr>
        <p:spPr>
          <a:xfrm>
            <a:off x="6812280" y="1417320"/>
            <a:ext cx="2057400" cy="3502152"/>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6903720" y="1508760"/>
            <a:ext cx="1874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lang="en-US" sz="1100">
                <a:solidFill>
                  <a:srgbClr val="B85042"/>
                </a:solidFill>
                <a:latin typeface="Calibri"/>
                <a:ea typeface="Calibri"/>
                <a:cs typeface="Calibri"/>
                <a:sym typeface="Calibri"/>
              </a:rPr>
              <a:t>KEY TAKEAWAYS</a:t>
            </a:r>
            <a:endParaRPr sz="1100">
              <a:solidFill>
                <a:schemeClr val="dk1"/>
              </a:solidFill>
              <a:latin typeface="Calibri"/>
              <a:ea typeface="Calibri"/>
              <a:cs typeface="Calibri"/>
              <a:sym typeface="Calibri"/>
            </a:endParaRPr>
          </a:p>
        </p:txBody>
      </p:sp>
      <p:sp>
        <p:nvSpPr>
          <p:cNvPr id="150" name="Google Shape;150;p9"/>
          <p:cNvSpPr/>
          <p:nvPr/>
        </p:nvSpPr>
        <p:spPr>
          <a:xfrm>
            <a:off x="6903720" y="1783080"/>
            <a:ext cx="187452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REGION</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Northeast 32% vs Midwest 14% — over 2x spread</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RESTAURANT</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Domino's worst at 30%, Papa John's best at 13%</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CAVEAT</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Raw rates don't account for traffic and order mix</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B85042"/>
              </a:buClr>
              <a:buSzPts val="1200"/>
              <a:buFont typeface="Calibri"/>
              <a:buNone/>
            </a:pPr>
            <a:r>
              <a:rPr b="1" lang="en-US" sz="1200">
                <a:solidFill>
                  <a:srgbClr val="B85042"/>
                </a:solidFill>
                <a:latin typeface="Calibri"/>
                <a:ea typeface="Calibri"/>
                <a:cs typeface="Calibri"/>
                <a:sym typeface="Calibri"/>
              </a:rPr>
              <a:t>INSIGHT</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000"/>
              <a:buFont typeface="Calibri"/>
              <a:buNone/>
            </a:pPr>
            <a:r>
              <a:rPr i="1" lang="en-US" sz="1000">
                <a:solidFill>
                  <a:srgbClr val="1F2937"/>
                </a:solidFill>
                <a:latin typeface="Calibri"/>
                <a:ea typeface="Calibri"/>
                <a:cs typeface="Calibri"/>
                <a:sym typeface="Calibri"/>
              </a:rPr>
              <a:t>Geographic patterns are real and addressable through regional capacity planning</a:t>
            </a:r>
            <a:endParaRPr sz="1300">
              <a:solidFill>
                <a:schemeClr val="dk1"/>
              </a:solidFill>
              <a:latin typeface="Calibri"/>
              <a:ea typeface="Calibri"/>
              <a:cs typeface="Calibri"/>
              <a:sym typeface="Calibri"/>
            </a:endParaRPr>
          </a:p>
        </p:txBody>
      </p:sp>
      <p:sp>
        <p:nvSpPr>
          <p:cNvPr id="151" name="Google Shape;151;p9"/>
          <p:cNvSpPr/>
          <p:nvPr/>
        </p:nvSpPr>
        <p:spPr>
          <a:xfrm>
            <a:off x="274320" y="5120640"/>
            <a:ext cx="8595360" cy="118872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548640" y="5212080"/>
            <a:ext cx="80467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lang="en-US" sz="1100">
                <a:solidFill>
                  <a:srgbClr val="B85042"/>
                </a:solidFill>
                <a:latin typeface="Calibri"/>
                <a:ea typeface="Calibri"/>
                <a:cs typeface="Calibri"/>
                <a:sym typeface="Calibri"/>
              </a:rPr>
              <a:t>BOTTOM LINE</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r>
              <a:rPr lang="en-US" sz="400">
                <a:solidFill>
                  <a:srgbClr val="000000"/>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Geographic patterns are real and consistent. </a:t>
            </a:r>
            <a:r>
              <a:rPr i="1" lang="en-US" sz="1300">
                <a:solidFill>
                  <a:srgbClr val="6B7280"/>
                </a:solidFill>
                <a:latin typeface="Calibri"/>
                <a:ea typeface="Calibri"/>
                <a:cs typeface="Calibri"/>
                <a:sym typeface="Calibri"/>
              </a:rPr>
              <a:t>Northeast and Domino's stand out, but raw rates don't yet control for traffic or order mix.</a:t>
            </a:r>
            <a:endParaRPr sz="1100">
              <a:solidFill>
                <a:schemeClr val="dk1"/>
              </a:solidFill>
              <a:latin typeface="Calibri"/>
              <a:ea typeface="Calibri"/>
              <a:cs typeface="Calibri"/>
              <a:sym typeface="Calibri"/>
            </a:endParaRPr>
          </a:p>
        </p:txBody>
      </p:sp>
      <p:sp>
        <p:nvSpPr>
          <p:cNvPr id="153" name="Google Shape;153;p9"/>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154" name="Google Shape;154;p9"/>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7</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10"/>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WHAT kinds of orders get delayed?</a:t>
            </a:r>
            <a:endParaRPr sz="2800">
              <a:solidFill>
                <a:schemeClr val="dk1"/>
              </a:solidFill>
              <a:latin typeface="Calibri"/>
              <a:ea typeface="Calibri"/>
              <a:cs typeface="Calibri"/>
              <a:sym typeface="Calibri"/>
            </a:endParaRPr>
          </a:p>
        </p:txBody>
      </p:sp>
      <p:sp>
        <p:nvSpPr>
          <p:cNvPr id="161" name="Google Shape;161;p10"/>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0"/>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Bigger pizzas with more complexity dominate</a:t>
            </a:r>
            <a:endParaRPr sz="1400">
              <a:solidFill>
                <a:schemeClr val="dk1"/>
              </a:solidFill>
              <a:latin typeface="Calibri"/>
              <a:ea typeface="Calibri"/>
              <a:cs typeface="Calibri"/>
              <a:sym typeface="Calibri"/>
            </a:endParaRPr>
          </a:p>
        </p:txBody>
      </p:sp>
      <p:pic>
        <p:nvPicPr>
          <p:cNvPr descr="/home/claude/images/WHAT.png" id="163" name="Google Shape;163;p10"/>
          <p:cNvPicPr preferRelativeResize="0"/>
          <p:nvPr/>
        </p:nvPicPr>
        <p:blipFill rotWithShape="1">
          <a:blip r:embed="rId3">
            <a:alphaModFix/>
          </a:blip>
          <a:srcRect b="0" l="0" r="0" t="0"/>
          <a:stretch/>
        </p:blipFill>
        <p:spPr>
          <a:xfrm>
            <a:off x="274320" y="1417320"/>
            <a:ext cx="6400800" cy="3502152"/>
          </a:xfrm>
          <a:prstGeom prst="rect">
            <a:avLst/>
          </a:prstGeom>
          <a:noFill/>
          <a:ln>
            <a:noFill/>
          </a:ln>
        </p:spPr>
      </p:pic>
      <p:sp>
        <p:nvSpPr>
          <p:cNvPr id="164" name="Google Shape;164;p10"/>
          <p:cNvSpPr/>
          <p:nvPr/>
        </p:nvSpPr>
        <p:spPr>
          <a:xfrm>
            <a:off x="6812280" y="1417320"/>
            <a:ext cx="2057400" cy="3502152"/>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6903720" y="1508760"/>
            <a:ext cx="1874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lang="en-US" sz="1100">
                <a:solidFill>
                  <a:srgbClr val="B85042"/>
                </a:solidFill>
                <a:latin typeface="Calibri"/>
                <a:ea typeface="Calibri"/>
                <a:cs typeface="Calibri"/>
                <a:sym typeface="Calibri"/>
              </a:rPr>
              <a:t>KEY TAKEAWAYS</a:t>
            </a:r>
            <a:endParaRPr sz="1100">
              <a:solidFill>
                <a:schemeClr val="dk1"/>
              </a:solidFill>
              <a:latin typeface="Calibri"/>
              <a:ea typeface="Calibri"/>
              <a:cs typeface="Calibri"/>
              <a:sym typeface="Calibri"/>
            </a:endParaRPr>
          </a:p>
        </p:txBody>
      </p:sp>
      <p:sp>
        <p:nvSpPr>
          <p:cNvPr id="166" name="Google Shape;166;p10"/>
          <p:cNvSpPr/>
          <p:nvPr/>
        </p:nvSpPr>
        <p:spPr>
          <a:xfrm>
            <a:off x="6903720" y="1783080"/>
            <a:ext cx="187452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SIZE</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XL pizzas: 41% delayed. Small: only 1.5%</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COMPLEXITY</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High complexity (7+ items): 37% delay rate</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TYPE</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6B7280"/>
              </a:buClr>
              <a:buSzPts val="1000"/>
              <a:buFont typeface="Calibri"/>
              <a:buNone/>
            </a:pPr>
            <a:r>
              <a:rPr i="1" lang="en-US" sz="1000">
                <a:solidFill>
                  <a:srgbClr val="6B7280"/>
                </a:solidFill>
                <a:latin typeface="Calibri"/>
                <a:ea typeface="Calibri"/>
                <a:cs typeface="Calibri"/>
                <a:sym typeface="Calibri"/>
              </a:rPr>
              <a:t>Stuffed Crust shows 95% but small sample (n=21)</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000000"/>
              </a:buClr>
              <a:buSzPts val="800"/>
              <a:buFont typeface="Calibri"/>
              <a:buNone/>
            </a:pPr>
            <a:r>
              <a:rPr lang="en-US" sz="800">
                <a:solidFill>
                  <a:srgbClr val="000000"/>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B85042"/>
              </a:buClr>
              <a:buSzPts val="1200"/>
              <a:buFont typeface="Calibri"/>
              <a:buNone/>
            </a:pPr>
            <a:r>
              <a:rPr b="1" lang="en-US" sz="1200">
                <a:solidFill>
                  <a:srgbClr val="B85042"/>
                </a:solidFill>
                <a:latin typeface="Calibri"/>
                <a:ea typeface="Calibri"/>
                <a:cs typeface="Calibri"/>
                <a:sym typeface="Calibri"/>
              </a:rPr>
              <a:t>INSIGHT</a:t>
            </a:r>
            <a:endParaRPr sz="1300">
              <a:solidFill>
                <a:schemeClr val="dk1"/>
              </a:solidFill>
              <a:latin typeface="Calibri"/>
              <a:ea typeface="Calibri"/>
              <a:cs typeface="Calibri"/>
              <a:sym typeface="Calibri"/>
            </a:endParaRPr>
          </a:p>
          <a:p>
            <a:pPr indent="0" lvl="0" marL="0" marR="0" rtl="0" algn="l">
              <a:spcBef>
                <a:spcPts val="100"/>
              </a:spcBef>
              <a:spcAft>
                <a:spcPts val="0"/>
              </a:spcAft>
              <a:buClr>
                <a:srgbClr val="1F2937"/>
              </a:buClr>
              <a:buSzPts val="1000"/>
              <a:buFont typeface="Calibri"/>
              <a:buNone/>
            </a:pPr>
            <a:r>
              <a:rPr i="1" lang="en-US" sz="1000">
                <a:solidFill>
                  <a:srgbClr val="1F2937"/>
                </a:solidFill>
                <a:latin typeface="Calibri"/>
                <a:ea typeface="Calibri"/>
                <a:cs typeface="Calibri"/>
                <a:sym typeface="Calibri"/>
              </a:rPr>
              <a:t>Product complexity is a powerful and actionable predictor of kitchen delays</a:t>
            </a:r>
            <a:endParaRPr sz="1300">
              <a:solidFill>
                <a:schemeClr val="dk1"/>
              </a:solidFill>
              <a:latin typeface="Calibri"/>
              <a:ea typeface="Calibri"/>
              <a:cs typeface="Calibri"/>
              <a:sym typeface="Calibri"/>
            </a:endParaRPr>
          </a:p>
        </p:txBody>
      </p:sp>
      <p:sp>
        <p:nvSpPr>
          <p:cNvPr id="167" name="Google Shape;167;p10"/>
          <p:cNvSpPr/>
          <p:nvPr/>
        </p:nvSpPr>
        <p:spPr>
          <a:xfrm>
            <a:off x="274320" y="5120640"/>
            <a:ext cx="8595360" cy="118872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548640" y="5212080"/>
            <a:ext cx="80467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lang="en-US" sz="1100">
                <a:solidFill>
                  <a:srgbClr val="B85042"/>
                </a:solidFill>
                <a:latin typeface="Calibri"/>
                <a:ea typeface="Calibri"/>
                <a:cs typeface="Calibri"/>
                <a:sym typeface="Calibri"/>
              </a:rPr>
              <a:t>BOTTOM LINE</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r>
              <a:rPr lang="en-US" sz="400">
                <a:solidFill>
                  <a:srgbClr val="000000"/>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Order complexity drives delays from the kitchen side. </a:t>
            </a:r>
            <a:r>
              <a:rPr i="1" lang="en-US" sz="1300">
                <a:solidFill>
                  <a:srgbClr val="6B7280"/>
                </a:solidFill>
                <a:latin typeface="Calibri"/>
                <a:ea typeface="Calibri"/>
                <a:cs typeface="Calibri"/>
                <a:sym typeface="Calibri"/>
              </a:rPr>
              <a:t>Bigger pizzas + more toppings = significantly higher delay risk.</a:t>
            </a:r>
            <a:endParaRPr sz="1100">
              <a:solidFill>
                <a:schemeClr val="dk1"/>
              </a:solidFill>
              <a:latin typeface="Calibri"/>
              <a:ea typeface="Calibri"/>
              <a:cs typeface="Calibri"/>
              <a:sym typeface="Calibri"/>
            </a:endParaRPr>
          </a:p>
        </p:txBody>
      </p:sp>
      <p:sp>
        <p:nvSpPr>
          <p:cNvPr id="169" name="Google Shape;169;p10"/>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170" name="Google Shape;170;p10"/>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8</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1"/>
          <p:cNvSpPr/>
          <p:nvPr/>
        </p:nvSpPr>
        <p:spPr>
          <a:xfrm>
            <a:off x="457200" y="304800"/>
            <a:ext cx="8229600" cy="670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D3D"/>
              </a:buClr>
              <a:buSzPts val="2800"/>
              <a:buFont typeface="Georgia"/>
              <a:buNone/>
            </a:pPr>
            <a:r>
              <a:rPr b="1" i="0" lang="en-US" sz="2800" u="none" cap="none" strike="noStrike">
                <a:solidFill>
                  <a:srgbClr val="1F2D3D"/>
                </a:solidFill>
                <a:latin typeface="Calibri"/>
                <a:ea typeface="Calibri"/>
                <a:cs typeface="Calibri"/>
                <a:sym typeface="Calibri"/>
              </a:rPr>
              <a:t>Two Models, One Master Variable</a:t>
            </a:r>
            <a:endParaRPr i="0" sz="2800" u="none" cap="none" strike="noStrike">
              <a:solidFill>
                <a:schemeClr val="dk1"/>
              </a:solidFill>
              <a:latin typeface="Calibri"/>
              <a:ea typeface="Calibri"/>
              <a:cs typeface="Calibri"/>
              <a:sym typeface="Calibri"/>
            </a:endParaRPr>
          </a:p>
        </p:txBody>
      </p:sp>
      <p:sp>
        <p:nvSpPr>
          <p:cNvPr id="177" name="Google Shape;177;p11"/>
          <p:cNvSpPr/>
          <p:nvPr/>
        </p:nvSpPr>
        <p:spPr>
          <a:xfrm>
            <a:off x="457200" y="1036320"/>
            <a:ext cx="548640" cy="6096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1"/>
          <p:cNvSpPr/>
          <p:nvPr/>
        </p:nvSpPr>
        <p:spPr>
          <a:xfrm>
            <a:off x="457200" y="11582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400"/>
              <a:buFont typeface="Georgia"/>
              <a:buNone/>
            </a:pPr>
            <a:r>
              <a:rPr i="1" lang="en-US" sz="1400" u="none" cap="none" strike="noStrike">
                <a:solidFill>
                  <a:srgbClr val="6B6B6B"/>
                </a:solidFill>
                <a:latin typeface="Calibri"/>
                <a:ea typeface="Calibri"/>
                <a:cs typeface="Calibri"/>
                <a:sym typeface="Calibri"/>
              </a:rPr>
              <a:t>Distance predicts both whether a delay happens AND how bad it gets</a:t>
            </a:r>
            <a:endParaRPr i="0" sz="1400" u="none" cap="none" strike="noStrike">
              <a:solidFill>
                <a:schemeClr val="dk1"/>
              </a:solidFill>
              <a:latin typeface="Calibri"/>
              <a:ea typeface="Calibri"/>
              <a:cs typeface="Calibri"/>
              <a:sym typeface="Calibri"/>
            </a:endParaRPr>
          </a:p>
        </p:txBody>
      </p:sp>
      <p:sp>
        <p:nvSpPr>
          <p:cNvPr id="179" name="Google Shape;179;p11"/>
          <p:cNvSpPr/>
          <p:nvPr/>
        </p:nvSpPr>
        <p:spPr>
          <a:xfrm>
            <a:off x="457200" y="1533144"/>
            <a:ext cx="4114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85042"/>
              </a:buClr>
              <a:buSzPts val="1100"/>
              <a:buFont typeface="Calibri"/>
              <a:buNone/>
            </a:pPr>
            <a:r>
              <a:rPr b="1" i="0" lang="en-US" sz="1100" u="none" cap="none" strike="noStrike">
                <a:solidFill>
                  <a:srgbClr val="B85042"/>
                </a:solidFill>
                <a:latin typeface="Calibri"/>
                <a:ea typeface="Calibri"/>
                <a:cs typeface="Calibri"/>
                <a:sym typeface="Calibri"/>
              </a:rPr>
              <a:t>WHETHER a delay happens</a:t>
            </a:r>
            <a:endParaRPr b="0" i="0" sz="1100" u="none" cap="none" strike="noStrike">
              <a:solidFill>
                <a:schemeClr val="dk1"/>
              </a:solidFill>
              <a:latin typeface="Calibri"/>
              <a:ea typeface="Calibri"/>
              <a:cs typeface="Calibri"/>
              <a:sym typeface="Calibri"/>
            </a:endParaRPr>
          </a:p>
        </p:txBody>
      </p:sp>
      <p:sp>
        <p:nvSpPr>
          <p:cNvPr id="180" name="Google Shape;180;p11"/>
          <p:cNvSpPr/>
          <p:nvPr/>
        </p:nvSpPr>
        <p:spPr>
          <a:xfrm>
            <a:off x="457200" y="1813560"/>
            <a:ext cx="4114800" cy="268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6B"/>
              </a:buClr>
              <a:buSzPts val="900"/>
              <a:buFont typeface="Calibri"/>
              <a:buNone/>
            </a:pPr>
            <a:r>
              <a:rPr b="0" i="1" lang="en-US" sz="900" u="none" cap="none" strike="noStrike">
                <a:solidFill>
                  <a:srgbClr val="6B6B6B"/>
                </a:solidFill>
                <a:latin typeface="Calibri"/>
                <a:ea typeface="Calibri"/>
                <a:cs typeface="Calibri"/>
                <a:sym typeface="Calibri"/>
              </a:rPr>
              <a:t>Random Forest  •  98% accuracy  </a:t>
            </a:r>
            <a:endParaRPr b="0" i="0" sz="900" u="none" cap="none" strike="noStrike">
              <a:solidFill>
                <a:schemeClr val="dk1"/>
              </a:solidFill>
              <a:latin typeface="Calibri"/>
              <a:ea typeface="Calibri"/>
              <a:cs typeface="Calibri"/>
              <a:sym typeface="Calibri"/>
            </a:endParaRPr>
          </a:p>
        </p:txBody>
      </p:sp>
      <p:pic>
        <p:nvPicPr>
          <p:cNvPr descr="/home/claude/build/rf.png" id="181" name="Google Shape;181;p11"/>
          <p:cNvPicPr preferRelativeResize="0"/>
          <p:nvPr/>
        </p:nvPicPr>
        <p:blipFill rotWithShape="1">
          <a:blip r:embed="rId3">
            <a:alphaModFix/>
          </a:blip>
          <a:srcRect b="0" l="0" r="0" t="0"/>
          <a:stretch/>
        </p:blipFill>
        <p:spPr>
          <a:xfrm>
            <a:off x="365760" y="2087880"/>
            <a:ext cx="4297680" cy="3230879"/>
          </a:xfrm>
          <a:prstGeom prst="rect">
            <a:avLst/>
          </a:prstGeom>
          <a:noFill/>
          <a:ln>
            <a:noFill/>
          </a:ln>
        </p:spPr>
      </p:pic>
      <p:sp>
        <p:nvSpPr>
          <p:cNvPr id="182" name="Google Shape;182;p11"/>
          <p:cNvSpPr/>
          <p:nvPr/>
        </p:nvSpPr>
        <p:spPr>
          <a:xfrm>
            <a:off x="4663440" y="1533144"/>
            <a:ext cx="4114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85042"/>
              </a:buClr>
              <a:buSzPts val="1100"/>
              <a:buFont typeface="Calibri"/>
              <a:buNone/>
            </a:pPr>
            <a:r>
              <a:rPr b="1" i="0" lang="en-US" sz="1100" u="none" cap="none" strike="noStrike">
                <a:solidFill>
                  <a:srgbClr val="B85042"/>
                </a:solidFill>
                <a:latin typeface="Calibri"/>
                <a:ea typeface="Calibri"/>
                <a:cs typeface="Calibri"/>
                <a:sym typeface="Calibri"/>
              </a:rPr>
              <a:t>HOW BAD the delay is</a:t>
            </a:r>
            <a:endParaRPr b="0" i="0" sz="1100" u="none" cap="none" strike="noStrike">
              <a:solidFill>
                <a:schemeClr val="dk1"/>
              </a:solidFill>
              <a:latin typeface="Calibri"/>
              <a:ea typeface="Calibri"/>
              <a:cs typeface="Calibri"/>
              <a:sym typeface="Calibri"/>
            </a:endParaRPr>
          </a:p>
        </p:txBody>
      </p:sp>
      <p:sp>
        <p:nvSpPr>
          <p:cNvPr id="183" name="Google Shape;183;p11"/>
          <p:cNvSpPr/>
          <p:nvPr/>
        </p:nvSpPr>
        <p:spPr>
          <a:xfrm>
            <a:off x="4663440" y="1813560"/>
            <a:ext cx="4114800" cy="268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6B"/>
              </a:buClr>
              <a:buSzPts val="900"/>
              <a:buFont typeface="Calibri"/>
              <a:buNone/>
            </a:pPr>
            <a:r>
              <a:rPr b="0" i="1" lang="en-US" sz="900" u="none" cap="none" strike="noStrike">
                <a:solidFill>
                  <a:srgbClr val="6B6B6B"/>
                </a:solidFill>
                <a:latin typeface="Calibri"/>
                <a:ea typeface="Calibri"/>
                <a:cs typeface="Calibri"/>
                <a:sym typeface="Calibri"/>
              </a:rPr>
              <a:t>Linear Regression  •  Among delayed orders </a:t>
            </a:r>
            <a:endParaRPr b="0" i="0" sz="900" u="none" cap="none" strike="noStrike">
              <a:solidFill>
                <a:schemeClr val="dk1"/>
              </a:solidFill>
              <a:latin typeface="Calibri"/>
              <a:ea typeface="Calibri"/>
              <a:cs typeface="Calibri"/>
              <a:sym typeface="Calibri"/>
            </a:endParaRPr>
          </a:p>
        </p:txBody>
      </p:sp>
      <p:pic>
        <p:nvPicPr>
          <p:cNvPr descr="/home/claude/build/severity.png" id="184" name="Google Shape;184;p11"/>
          <p:cNvPicPr preferRelativeResize="0"/>
          <p:nvPr/>
        </p:nvPicPr>
        <p:blipFill rotWithShape="1">
          <a:blip r:embed="rId4">
            <a:alphaModFix/>
          </a:blip>
          <a:srcRect b="0" l="0" r="0" t="0"/>
          <a:stretch/>
        </p:blipFill>
        <p:spPr>
          <a:xfrm>
            <a:off x="4572000" y="2093976"/>
            <a:ext cx="4480560" cy="3230879"/>
          </a:xfrm>
          <a:prstGeom prst="rect">
            <a:avLst/>
          </a:prstGeom>
          <a:noFill/>
          <a:ln>
            <a:noFill/>
          </a:ln>
        </p:spPr>
      </p:pic>
      <p:sp>
        <p:nvSpPr>
          <p:cNvPr id="185" name="Google Shape;185;p11"/>
          <p:cNvSpPr/>
          <p:nvPr/>
        </p:nvSpPr>
        <p:spPr>
          <a:xfrm>
            <a:off x="365750" y="5519975"/>
            <a:ext cx="8504100" cy="880800"/>
          </a:xfrm>
          <a:prstGeom prst="rect">
            <a:avLst/>
          </a:prstGeom>
          <a:solidFill>
            <a:srgbClr val="F4EFE6"/>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457200" y="5452825"/>
            <a:ext cx="8229600" cy="1130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200">
                <a:solidFill>
                  <a:srgbClr val="B85042"/>
                </a:solidFill>
                <a:latin typeface="Calibri"/>
                <a:ea typeface="Calibri"/>
                <a:cs typeface="Calibri"/>
                <a:sym typeface="Calibri"/>
              </a:rPr>
              <a:t>DISTANCE LEADS BOTH</a:t>
            </a:r>
            <a:r>
              <a:rPr lang="en-US" sz="1200">
                <a:solidFill>
                  <a:srgbClr val="2B2B2B"/>
                </a:solidFill>
                <a:latin typeface="Calibri"/>
                <a:ea typeface="Calibri"/>
                <a:cs typeface="Calibri"/>
                <a:sym typeface="Calibri"/>
              </a:rPr>
              <a:t> the single biggest factor in both models. </a:t>
            </a:r>
            <a:endParaRPr sz="1200">
              <a:solidFill>
                <a:srgbClr val="2B2B2B"/>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US" sz="1200">
                <a:solidFill>
                  <a:srgbClr val="B85042"/>
                </a:solidFill>
                <a:latin typeface="Calibri"/>
                <a:ea typeface="Calibri"/>
                <a:cs typeface="Calibri"/>
                <a:sym typeface="Calibri"/>
              </a:rPr>
              <a:t>KITCHEN VARIABLES PLAY DIFFERENT ROLES</a:t>
            </a:r>
            <a:r>
              <a:rPr lang="en-US" sz="1200">
                <a:solidFill>
                  <a:srgbClr val="2B2B2B"/>
                </a:solidFill>
                <a:latin typeface="Calibri"/>
                <a:ea typeface="Calibri"/>
                <a:cs typeface="Calibri"/>
                <a:sym typeface="Calibri"/>
              </a:rPr>
              <a:t>  complexity predicts whether a delay happens; XL and toppings predict how bad it gets. </a:t>
            </a:r>
            <a:endParaRPr sz="1200">
              <a:solidFill>
                <a:srgbClr val="2B2B2B"/>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US" sz="1200">
                <a:solidFill>
                  <a:srgbClr val="B85042"/>
                </a:solidFill>
                <a:latin typeface="Calibri"/>
                <a:ea typeface="Calibri"/>
                <a:cs typeface="Calibri"/>
                <a:sym typeface="Calibri"/>
              </a:rPr>
              <a:t>RESTAURANT BRAND</a:t>
            </a:r>
            <a:r>
              <a:rPr lang="en-US" sz="1200">
                <a:solidFill>
                  <a:srgbClr val="2B2B2B"/>
                </a:solidFill>
                <a:latin typeface="Calibri"/>
                <a:ea typeface="Calibri"/>
                <a:cs typeface="Calibri"/>
                <a:sym typeface="Calibri"/>
              </a:rPr>
              <a:t> matters more for severity than for occurrence.</a:t>
            </a:r>
            <a:endParaRPr sz="1200">
              <a:solidFill>
                <a:srgbClr val="2B2B2B"/>
              </a:solidFill>
              <a:latin typeface="Calibri"/>
              <a:ea typeface="Calibri"/>
              <a:cs typeface="Calibri"/>
              <a:sym typeface="Calibri"/>
            </a:endParaRPr>
          </a:p>
          <a:p>
            <a:pPr indent="0" lvl="0" marL="0" marR="0" rtl="0" algn="l">
              <a:spcBef>
                <a:spcPts val="0"/>
              </a:spcBef>
              <a:spcAft>
                <a:spcPts val="0"/>
              </a:spcAft>
              <a:buClr>
                <a:srgbClr val="B85042"/>
              </a:buClr>
              <a:buSzPts val="1000"/>
              <a:buFont typeface="Calibri"/>
              <a:buNone/>
            </a:pPr>
            <a:r>
              <a:t/>
            </a:r>
            <a:endParaRPr b="1" sz="1100">
              <a:solidFill>
                <a:schemeClr val="dk1"/>
              </a:solidFill>
            </a:endParaRPr>
          </a:p>
        </p:txBody>
      </p:sp>
      <p:sp>
        <p:nvSpPr>
          <p:cNvPr id="187" name="Google Shape;187;p11"/>
          <p:cNvSpPr/>
          <p:nvPr/>
        </p:nvSpPr>
        <p:spPr>
          <a:xfrm>
            <a:off x="457200" y="640080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6B"/>
              </a:buClr>
              <a:buSzPts val="1000"/>
              <a:buFont typeface="Calibri"/>
              <a:buNone/>
            </a:pPr>
            <a:r>
              <a:rPr b="0" i="1" lang="en-US" sz="1000" u="none" cap="none" strike="noStrike">
                <a:solidFill>
                  <a:srgbClr val="6B6B6B"/>
                </a:solidFill>
                <a:latin typeface="Calibri"/>
                <a:ea typeface="Calibri"/>
                <a:cs typeface="Calibri"/>
                <a:sym typeface="Calibri"/>
              </a:rPr>
              <a:t>Team RAD</a:t>
            </a:r>
            <a:r>
              <a:rPr b="0" i="0" lang="en-US" sz="1000" u="none" cap="none" strike="noStrike">
                <a:solidFill>
                  <a:srgbClr val="6B6B6B"/>
                </a:solidFill>
                <a:latin typeface="Calibri"/>
                <a:ea typeface="Calibri"/>
                <a:cs typeface="Calibri"/>
                <a:sym typeface="Calibri"/>
              </a:rPr>
              <a:t>  |  </a:t>
            </a:r>
            <a:r>
              <a:rPr b="0" i="1" lang="en-US" sz="1000" u="none" cap="none" strike="noStrike">
                <a:solidFill>
                  <a:srgbClr val="6B6B6B"/>
                </a:solidFill>
                <a:latin typeface="Calibri"/>
                <a:ea typeface="Calibri"/>
                <a:cs typeface="Calibri"/>
                <a:sym typeface="Calibri"/>
              </a:rPr>
              <a:t>ITEC 460</a:t>
            </a:r>
            <a:r>
              <a:rPr b="0" i="0" lang="en-US" sz="1000" u="none" cap="none" strike="noStrike">
                <a:solidFill>
                  <a:srgbClr val="6B6B6B"/>
                </a:solidFill>
                <a:latin typeface="Calibri"/>
                <a:ea typeface="Calibri"/>
                <a:cs typeface="Calibri"/>
                <a:sym typeface="Calibri"/>
              </a:rPr>
              <a:t>  |  </a:t>
            </a:r>
            <a:r>
              <a:rPr b="0" i="1" lang="en-US" sz="1000" u="none" cap="none" strike="noStrike">
                <a:solidFill>
                  <a:srgbClr val="6B6B6B"/>
                </a:solidFill>
                <a:latin typeface="Calibri"/>
                <a:ea typeface="Calibri"/>
                <a:cs typeface="Calibri"/>
                <a:sym typeface="Calibri"/>
              </a:rPr>
              <a:t>Pizzagate</a:t>
            </a:r>
            <a:endParaRPr b="0" i="0" sz="1000" u="none" cap="none" strike="noStrike">
              <a:solidFill>
                <a:schemeClr val="dk1"/>
              </a:solidFill>
              <a:latin typeface="Calibri"/>
              <a:ea typeface="Calibri"/>
              <a:cs typeface="Calibri"/>
              <a:sym typeface="Calibri"/>
            </a:endParaRPr>
          </a:p>
        </p:txBody>
      </p:sp>
      <p:sp>
        <p:nvSpPr>
          <p:cNvPr id="188" name="Google Shape;188;p11"/>
          <p:cNvSpPr/>
          <p:nvPr/>
        </p:nvSpPr>
        <p:spPr>
          <a:xfrm>
            <a:off x="8412480" y="6400800"/>
            <a:ext cx="45720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1000"/>
              <a:buFont typeface="Calibri"/>
              <a:buNone/>
            </a:pPr>
            <a:r>
              <a:rPr b="0" i="0" lang="en-US" sz="1000" u="none" cap="none" strike="noStrike">
                <a:solidFill>
                  <a:srgbClr val="6B6B6B"/>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2"/>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Distance is the Single Strongest Driver</a:t>
            </a:r>
            <a:endParaRPr sz="2800">
              <a:solidFill>
                <a:schemeClr val="dk1"/>
              </a:solidFill>
              <a:latin typeface="Calibri"/>
              <a:ea typeface="Calibri"/>
              <a:cs typeface="Calibri"/>
              <a:sym typeface="Calibri"/>
            </a:endParaRPr>
          </a:p>
        </p:txBody>
      </p:sp>
      <p:sp>
        <p:nvSpPr>
          <p:cNvPr id="195" name="Google Shape;195;p12"/>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Past 8 km, delays go from rare to near-certain</a:t>
            </a:r>
            <a:endParaRPr sz="1400">
              <a:solidFill>
                <a:schemeClr val="dk1"/>
              </a:solidFill>
              <a:latin typeface="Calibri"/>
              <a:ea typeface="Calibri"/>
              <a:cs typeface="Calibri"/>
              <a:sym typeface="Calibri"/>
            </a:endParaRPr>
          </a:p>
        </p:txBody>
      </p:sp>
      <p:pic>
        <p:nvPicPr>
          <p:cNvPr descr="/home/claude/images/distance.png" id="197" name="Google Shape;197;p12"/>
          <p:cNvPicPr preferRelativeResize="0"/>
          <p:nvPr/>
        </p:nvPicPr>
        <p:blipFill rotWithShape="1">
          <a:blip r:embed="rId3">
            <a:alphaModFix/>
          </a:blip>
          <a:srcRect b="0" l="0" r="0" t="0"/>
          <a:stretch/>
        </p:blipFill>
        <p:spPr>
          <a:xfrm>
            <a:off x="457200" y="1920240"/>
            <a:ext cx="5943600" cy="3621024"/>
          </a:xfrm>
          <a:prstGeom prst="rect">
            <a:avLst/>
          </a:prstGeom>
          <a:noFill/>
          <a:ln>
            <a:noFill/>
          </a:ln>
        </p:spPr>
      </p:pic>
      <p:sp>
        <p:nvSpPr>
          <p:cNvPr id="198" name="Google Shape;198;p12"/>
          <p:cNvSpPr/>
          <p:nvPr/>
        </p:nvSpPr>
        <p:spPr>
          <a:xfrm>
            <a:off x="6675120" y="1463040"/>
            <a:ext cx="2011680" cy="128016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2"/>
          <p:cNvSpPr/>
          <p:nvPr/>
        </p:nvSpPr>
        <p:spPr>
          <a:xfrm>
            <a:off x="6675120" y="155448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3600"/>
              <a:buFont typeface="Calibri"/>
              <a:buNone/>
            </a:pPr>
            <a:r>
              <a:rPr b="1" lang="en-US" sz="3600">
                <a:solidFill>
                  <a:srgbClr val="B85042"/>
                </a:solidFill>
                <a:latin typeface="Calibri"/>
                <a:ea typeface="Calibri"/>
                <a:cs typeface="Calibri"/>
                <a:sym typeface="Calibri"/>
              </a:rPr>
              <a:t>0%</a:t>
            </a:r>
            <a:endParaRPr sz="3600">
              <a:solidFill>
                <a:schemeClr val="dk1"/>
              </a:solidFill>
              <a:latin typeface="Calibri"/>
              <a:ea typeface="Calibri"/>
              <a:cs typeface="Calibri"/>
              <a:sym typeface="Calibri"/>
            </a:endParaRPr>
          </a:p>
        </p:txBody>
      </p:sp>
      <p:sp>
        <p:nvSpPr>
          <p:cNvPr id="200" name="Google Shape;200;p12"/>
          <p:cNvSpPr/>
          <p:nvPr/>
        </p:nvSpPr>
        <p:spPr>
          <a:xfrm>
            <a:off x="6675120" y="224028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Short trips (2-4 km)</a:t>
            </a:r>
            <a:endParaRPr sz="1200">
              <a:solidFill>
                <a:schemeClr val="dk1"/>
              </a:solidFill>
              <a:latin typeface="Calibri"/>
              <a:ea typeface="Calibri"/>
              <a:cs typeface="Calibri"/>
              <a:sym typeface="Calibri"/>
            </a:endParaRPr>
          </a:p>
        </p:txBody>
      </p:sp>
      <p:sp>
        <p:nvSpPr>
          <p:cNvPr id="201" name="Google Shape;201;p12"/>
          <p:cNvSpPr/>
          <p:nvPr/>
        </p:nvSpPr>
        <p:spPr>
          <a:xfrm>
            <a:off x="6675120" y="2834640"/>
            <a:ext cx="2011680" cy="128016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2"/>
          <p:cNvSpPr/>
          <p:nvPr/>
        </p:nvSpPr>
        <p:spPr>
          <a:xfrm>
            <a:off x="6675120" y="292608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3600"/>
              <a:buFont typeface="Calibri"/>
              <a:buNone/>
            </a:pPr>
            <a:r>
              <a:rPr b="1" lang="en-US" sz="3600">
                <a:solidFill>
                  <a:srgbClr val="B85042"/>
                </a:solidFill>
                <a:latin typeface="Calibri"/>
                <a:ea typeface="Calibri"/>
                <a:cs typeface="Calibri"/>
                <a:sym typeface="Calibri"/>
              </a:rPr>
              <a:t>32%</a:t>
            </a:r>
            <a:endParaRPr sz="3600">
              <a:solidFill>
                <a:schemeClr val="dk1"/>
              </a:solidFill>
              <a:latin typeface="Calibri"/>
              <a:ea typeface="Calibri"/>
              <a:cs typeface="Calibri"/>
              <a:sym typeface="Calibri"/>
            </a:endParaRPr>
          </a:p>
        </p:txBody>
      </p:sp>
      <p:sp>
        <p:nvSpPr>
          <p:cNvPr id="203" name="Google Shape;203;p12"/>
          <p:cNvSpPr/>
          <p:nvPr/>
        </p:nvSpPr>
        <p:spPr>
          <a:xfrm>
            <a:off x="6675120" y="361188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Long trips (6-8 km)</a:t>
            </a:r>
            <a:endParaRPr sz="1200">
              <a:solidFill>
                <a:schemeClr val="dk1"/>
              </a:solidFill>
              <a:latin typeface="Calibri"/>
              <a:ea typeface="Calibri"/>
              <a:cs typeface="Calibri"/>
              <a:sym typeface="Calibri"/>
            </a:endParaRPr>
          </a:p>
        </p:txBody>
      </p:sp>
      <p:sp>
        <p:nvSpPr>
          <p:cNvPr id="204" name="Google Shape;204;p12"/>
          <p:cNvSpPr/>
          <p:nvPr/>
        </p:nvSpPr>
        <p:spPr>
          <a:xfrm>
            <a:off x="6675120" y="4206240"/>
            <a:ext cx="2011680" cy="128016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6675120" y="429768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~100%</a:t>
            </a:r>
            <a:endParaRPr sz="3600">
              <a:solidFill>
                <a:schemeClr val="dk1"/>
              </a:solidFill>
              <a:latin typeface="Calibri"/>
              <a:ea typeface="Calibri"/>
              <a:cs typeface="Calibri"/>
              <a:sym typeface="Calibri"/>
            </a:endParaRPr>
          </a:p>
        </p:txBody>
      </p:sp>
      <p:sp>
        <p:nvSpPr>
          <p:cNvPr id="206" name="Google Shape;206;p12"/>
          <p:cNvSpPr/>
          <p:nvPr/>
        </p:nvSpPr>
        <p:spPr>
          <a:xfrm>
            <a:off x="6675120" y="498348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i="1" lang="en-US" sz="1200">
                <a:solidFill>
                  <a:srgbClr val="FFFFFF"/>
                </a:solidFill>
                <a:latin typeface="Calibri"/>
                <a:ea typeface="Calibri"/>
                <a:cs typeface="Calibri"/>
                <a:sym typeface="Calibri"/>
              </a:rPr>
              <a:t>Very Long (8-10 km)</a:t>
            </a:r>
            <a:endParaRPr sz="1200">
              <a:solidFill>
                <a:schemeClr val="dk1"/>
              </a:solidFill>
              <a:latin typeface="Calibri"/>
              <a:ea typeface="Calibri"/>
              <a:cs typeface="Calibri"/>
              <a:sym typeface="Calibri"/>
            </a:endParaRPr>
          </a:p>
        </p:txBody>
      </p:sp>
      <p:sp>
        <p:nvSpPr>
          <p:cNvPr id="207" name="Google Shape;207;p12"/>
          <p:cNvSpPr/>
          <p:nvPr/>
        </p:nvSpPr>
        <p:spPr>
          <a:xfrm>
            <a:off x="274320" y="5669280"/>
            <a:ext cx="8595360" cy="68580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457200" y="5669280"/>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1300"/>
              <a:buFont typeface="Calibri"/>
              <a:buNone/>
            </a:pPr>
            <a:r>
              <a:rPr b="1" lang="en-US" sz="1300">
                <a:solidFill>
                  <a:srgbClr val="B85042"/>
                </a:solidFill>
                <a:latin typeface="Calibri"/>
                <a:ea typeface="Calibri"/>
                <a:cs typeface="Calibri"/>
                <a:sym typeface="Calibri"/>
              </a:rPr>
              <a:t>Operational implication: </a:t>
            </a:r>
            <a:r>
              <a:rPr lang="en-US" sz="1300">
                <a:solidFill>
                  <a:srgbClr val="1F2937"/>
                </a:solidFill>
                <a:latin typeface="Calibri"/>
                <a:ea typeface="Calibri"/>
                <a:cs typeface="Calibri"/>
                <a:sym typeface="Calibri"/>
              </a:rPr>
              <a:t>Past 8 km, decline orders or set </a:t>
            </a:r>
            <a:r>
              <a:rPr b="1" i="1" lang="en-US" sz="1300">
                <a:solidFill>
                  <a:srgbClr val="1F2937"/>
                </a:solidFill>
                <a:latin typeface="Calibri"/>
                <a:ea typeface="Calibri"/>
                <a:cs typeface="Calibri"/>
                <a:sym typeface="Calibri"/>
              </a:rPr>
              <a:t>realistic</a:t>
            </a:r>
            <a:r>
              <a:rPr lang="en-US" sz="1300">
                <a:solidFill>
                  <a:srgbClr val="1F2937"/>
                </a:solidFill>
                <a:latin typeface="Calibri"/>
                <a:ea typeface="Calibri"/>
                <a:cs typeface="Calibri"/>
                <a:sym typeface="Calibri"/>
              </a:rPr>
              <a:t> ETAs that match actual performance.</a:t>
            </a:r>
            <a:endParaRPr sz="1300">
              <a:solidFill>
                <a:schemeClr val="dk1"/>
              </a:solidFill>
              <a:latin typeface="Calibri"/>
              <a:ea typeface="Calibri"/>
              <a:cs typeface="Calibri"/>
              <a:sym typeface="Calibri"/>
            </a:endParaRPr>
          </a:p>
        </p:txBody>
      </p:sp>
      <p:sp>
        <p:nvSpPr>
          <p:cNvPr id="209" name="Google Shape;209;p12"/>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210" name="Google Shape;210;p12"/>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10</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3"/>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When Risk Factors Stack, Delays Explode</a:t>
            </a:r>
            <a:endParaRPr sz="2800">
              <a:solidFill>
                <a:schemeClr val="dk1"/>
              </a:solidFill>
              <a:latin typeface="Calibri"/>
              <a:ea typeface="Calibri"/>
              <a:cs typeface="Calibri"/>
              <a:sym typeface="Calibri"/>
            </a:endParaRPr>
          </a:p>
        </p:txBody>
      </p:sp>
      <p:sp>
        <p:nvSpPr>
          <p:cNvPr id="217" name="Google Shape;217;p13"/>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Compound risk: pizza size × traffic level interaction</a:t>
            </a:r>
            <a:endParaRPr sz="1400">
              <a:solidFill>
                <a:schemeClr val="dk1"/>
              </a:solidFill>
              <a:latin typeface="Calibri"/>
              <a:ea typeface="Calibri"/>
              <a:cs typeface="Calibri"/>
              <a:sym typeface="Calibri"/>
            </a:endParaRPr>
          </a:p>
        </p:txBody>
      </p:sp>
      <p:pic>
        <p:nvPicPr>
          <p:cNvPr descr="/home/claude/images/heatmap.png" id="219" name="Google Shape;219;p13"/>
          <p:cNvPicPr preferRelativeResize="0"/>
          <p:nvPr/>
        </p:nvPicPr>
        <p:blipFill rotWithShape="1">
          <a:blip r:embed="rId3">
            <a:alphaModFix/>
          </a:blip>
          <a:srcRect b="0" l="0" r="0" t="0"/>
          <a:stretch/>
        </p:blipFill>
        <p:spPr>
          <a:xfrm>
            <a:off x="457200" y="1463040"/>
            <a:ext cx="5486400" cy="3657600"/>
          </a:xfrm>
          <a:prstGeom prst="rect">
            <a:avLst/>
          </a:prstGeom>
          <a:noFill/>
          <a:ln>
            <a:noFill/>
          </a:ln>
        </p:spPr>
      </p:pic>
      <p:sp>
        <p:nvSpPr>
          <p:cNvPr id="220" name="Google Shape;220;p13"/>
          <p:cNvSpPr/>
          <p:nvPr/>
        </p:nvSpPr>
        <p:spPr>
          <a:xfrm>
            <a:off x="6217920" y="1463040"/>
            <a:ext cx="2468880" cy="4754880"/>
          </a:xfrm>
          <a:prstGeom prst="rect">
            <a:avLst/>
          </a:prstGeom>
          <a:solidFill>
            <a:srgbClr val="2C3E50"/>
          </a:solidFill>
          <a:ln cap="flat" cmpd="sng" w="12700">
            <a:solidFill>
              <a:srgbClr val="2C3E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6309360" y="1691640"/>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A66E"/>
              </a:buClr>
              <a:buSzPts val="1100"/>
              <a:buFont typeface="Calibri"/>
              <a:buNone/>
            </a:pPr>
            <a:r>
              <a:rPr b="1" lang="en-US" sz="1100">
                <a:solidFill>
                  <a:srgbClr val="F1A66E"/>
                </a:solidFill>
                <a:latin typeface="Calibri"/>
                <a:ea typeface="Calibri"/>
                <a:cs typeface="Calibri"/>
                <a:sym typeface="Calibri"/>
              </a:rPr>
              <a:t>HIGHEST RISK</a:t>
            </a:r>
            <a:endParaRPr sz="1100">
              <a:solidFill>
                <a:schemeClr val="dk1"/>
              </a:solidFill>
              <a:latin typeface="Calibri"/>
              <a:ea typeface="Calibri"/>
              <a:cs typeface="Calibri"/>
              <a:sym typeface="Calibri"/>
            </a:endParaRPr>
          </a:p>
        </p:txBody>
      </p:sp>
      <p:sp>
        <p:nvSpPr>
          <p:cNvPr id="222" name="Google Shape;222;p13"/>
          <p:cNvSpPr/>
          <p:nvPr/>
        </p:nvSpPr>
        <p:spPr>
          <a:xfrm>
            <a:off x="6309360" y="2057400"/>
            <a:ext cx="22860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800"/>
              <a:buFont typeface="Calibri"/>
              <a:buNone/>
            </a:pPr>
            <a:r>
              <a:rPr b="1" lang="en-US" sz="4800">
                <a:solidFill>
                  <a:srgbClr val="FFFFFF"/>
                </a:solidFill>
                <a:latin typeface="Calibri"/>
                <a:ea typeface="Calibri"/>
                <a:cs typeface="Calibri"/>
                <a:sym typeface="Calibri"/>
              </a:rPr>
              <a:t>73.5%</a:t>
            </a:r>
            <a:endParaRPr sz="4800">
              <a:solidFill>
                <a:schemeClr val="dk1"/>
              </a:solidFill>
              <a:latin typeface="Calibri"/>
              <a:ea typeface="Calibri"/>
              <a:cs typeface="Calibri"/>
              <a:sym typeface="Calibri"/>
            </a:endParaRPr>
          </a:p>
        </p:txBody>
      </p:sp>
      <p:sp>
        <p:nvSpPr>
          <p:cNvPr id="223" name="Google Shape;223;p13"/>
          <p:cNvSpPr/>
          <p:nvPr/>
        </p:nvSpPr>
        <p:spPr>
          <a:xfrm>
            <a:off x="6309360" y="2926080"/>
            <a:ext cx="22860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i="1" lang="en-US" sz="1200">
                <a:solidFill>
                  <a:srgbClr val="FFFFFF"/>
                </a:solidFill>
                <a:latin typeface="Calibri"/>
                <a:ea typeface="Calibri"/>
                <a:cs typeface="Calibri"/>
                <a:sym typeface="Calibri"/>
              </a:rPr>
              <a:t>Large pizza + High traffic</a:t>
            </a:r>
            <a:endParaRPr sz="1200">
              <a:solidFill>
                <a:schemeClr val="dk1"/>
              </a:solidFill>
              <a:latin typeface="Calibri"/>
              <a:ea typeface="Calibri"/>
              <a:cs typeface="Calibri"/>
              <a:sym typeface="Calibri"/>
            </a:endParaRPr>
          </a:p>
        </p:txBody>
      </p:sp>
      <p:cxnSp>
        <p:nvCxnSpPr>
          <p:cNvPr id="224" name="Google Shape;224;p13"/>
          <p:cNvCxnSpPr/>
          <p:nvPr/>
        </p:nvCxnSpPr>
        <p:spPr>
          <a:xfrm>
            <a:off x="6400800" y="3611880"/>
            <a:ext cx="2103120" cy="0"/>
          </a:xfrm>
          <a:prstGeom prst="straightConnector1">
            <a:avLst/>
          </a:prstGeom>
          <a:noFill/>
          <a:ln cap="flat" cmpd="sng" w="12700">
            <a:solidFill>
              <a:srgbClr val="F1A66E"/>
            </a:solidFill>
            <a:prstDash val="solid"/>
            <a:round/>
            <a:headEnd len="sm" w="sm" type="none"/>
            <a:tailEnd len="sm" w="sm" type="none"/>
          </a:ln>
        </p:spPr>
      </p:cxnSp>
      <p:sp>
        <p:nvSpPr>
          <p:cNvPr id="225" name="Google Shape;225;p13"/>
          <p:cNvSpPr/>
          <p:nvPr/>
        </p:nvSpPr>
        <p:spPr>
          <a:xfrm>
            <a:off x="6309360" y="3794760"/>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A66E"/>
              </a:buClr>
              <a:buSzPts val="1100"/>
              <a:buFont typeface="Calibri"/>
              <a:buNone/>
            </a:pPr>
            <a:r>
              <a:rPr b="1" lang="en-US" sz="1100">
                <a:solidFill>
                  <a:srgbClr val="F1A66E"/>
                </a:solidFill>
                <a:latin typeface="Calibri"/>
                <a:ea typeface="Calibri"/>
                <a:cs typeface="Calibri"/>
                <a:sym typeface="Calibri"/>
              </a:rPr>
              <a:t>LOWEST RISK</a:t>
            </a:r>
            <a:endParaRPr sz="1100">
              <a:solidFill>
                <a:schemeClr val="dk1"/>
              </a:solidFill>
              <a:latin typeface="Calibri"/>
              <a:ea typeface="Calibri"/>
              <a:cs typeface="Calibri"/>
              <a:sym typeface="Calibri"/>
            </a:endParaRPr>
          </a:p>
        </p:txBody>
      </p:sp>
      <p:sp>
        <p:nvSpPr>
          <p:cNvPr id="226" name="Google Shape;226;p13"/>
          <p:cNvSpPr/>
          <p:nvPr/>
        </p:nvSpPr>
        <p:spPr>
          <a:xfrm>
            <a:off x="6309360" y="4160520"/>
            <a:ext cx="22860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800"/>
              <a:buFont typeface="Calibri"/>
              <a:buNone/>
            </a:pPr>
            <a:r>
              <a:rPr b="1" lang="en-US" sz="4800">
                <a:solidFill>
                  <a:srgbClr val="FFFFFF"/>
                </a:solidFill>
                <a:latin typeface="Calibri"/>
                <a:ea typeface="Calibri"/>
                <a:cs typeface="Calibri"/>
                <a:sym typeface="Calibri"/>
              </a:rPr>
              <a:t>0%</a:t>
            </a:r>
            <a:endParaRPr sz="4800">
              <a:solidFill>
                <a:schemeClr val="dk1"/>
              </a:solidFill>
              <a:latin typeface="Calibri"/>
              <a:ea typeface="Calibri"/>
              <a:cs typeface="Calibri"/>
              <a:sym typeface="Calibri"/>
            </a:endParaRPr>
          </a:p>
        </p:txBody>
      </p:sp>
      <p:sp>
        <p:nvSpPr>
          <p:cNvPr id="227" name="Google Shape;227;p13"/>
          <p:cNvSpPr/>
          <p:nvPr/>
        </p:nvSpPr>
        <p:spPr>
          <a:xfrm>
            <a:off x="6309360" y="5029200"/>
            <a:ext cx="22860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i="1" lang="en-US" sz="1200">
                <a:solidFill>
                  <a:srgbClr val="FFFFFF"/>
                </a:solidFill>
                <a:latin typeface="Calibri"/>
                <a:ea typeface="Calibri"/>
                <a:cs typeface="Calibri"/>
                <a:sym typeface="Calibri"/>
              </a:rPr>
              <a:t>Most low-traffic combinations</a:t>
            </a:r>
            <a:endParaRPr sz="1200">
              <a:solidFill>
                <a:schemeClr val="dk1"/>
              </a:solidFill>
              <a:latin typeface="Calibri"/>
              <a:ea typeface="Calibri"/>
              <a:cs typeface="Calibri"/>
              <a:sym typeface="Calibri"/>
            </a:endParaRPr>
          </a:p>
        </p:txBody>
      </p:sp>
      <p:sp>
        <p:nvSpPr>
          <p:cNvPr id="228" name="Google Shape;228;p13"/>
          <p:cNvSpPr/>
          <p:nvPr/>
        </p:nvSpPr>
        <p:spPr>
          <a:xfrm>
            <a:off x="6309360" y="5852160"/>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1A66E"/>
              </a:buClr>
              <a:buSzPts val="900"/>
              <a:buFont typeface="Calibri"/>
              <a:buNone/>
            </a:pPr>
            <a:r>
              <a:rPr i="1" lang="en-US" sz="900">
                <a:solidFill>
                  <a:srgbClr val="F1A66E"/>
                </a:solidFill>
                <a:latin typeface="Calibri"/>
                <a:ea typeface="Calibri"/>
                <a:cs typeface="Calibri"/>
                <a:sym typeface="Calibri"/>
              </a:rPr>
              <a:t>AI-generated visualization</a:t>
            </a:r>
            <a:endParaRPr sz="900">
              <a:solidFill>
                <a:schemeClr val="dk1"/>
              </a:solidFill>
              <a:latin typeface="Calibri"/>
              <a:ea typeface="Calibri"/>
              <a:cs typeface="Calibri"/>
              <a:sym typeface="Calibri"/>
            </a:endParaRPr>
          </a:p>
        </p:txBody>
      </p:sp>
      <p:sp>
        <p:nvSpPr>
          <p:cNvPr id="229" name="Google Shape;229;p13"/>
          <p:cNvSpPr/>
          <p:nvPr/>
        </p:nvSpPr>
        <p:spPr>
          <a:xfrm>
            <a:off x="457200" y="5349240"/>
            <a:ext cx="5486400" cy="86868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640080" y="5349240"/>
            <a:ext cx="512064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Risk multiplies, not adds.</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Target the worst combinations first — that's where the biggest wins are.</a:t>
            </a:r>
            <a:endParaRPr sz="1300">
              <a:solidFill>
                <a:schemeClr val="dk1"/>
              </a:solidFill>
              <a:latin typeface="Calibri"/>
              <a:ea typeface="Calibri"/>
              <a:cs typeface="Calibri"/>
              <a:sym typeface="Calibri"/>
            </a:endParaRPr>
          </a:p>
        </p:txBody>
      </p:sp>
      <p:sp>
        <p:nvSpPr>
          <p:cNvPr id="231" name="Google Shape;231;p13"/>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232" name="Google Shape;232;p13"/>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12</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14"/>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A Tale of Two Orders</a:t>
            </a:r>
            <a:endParaRPr sz="2800">
              <a:solidFill>
                <a:schemeClr val="dk1"/>
              </a:solidFill>
              <a:latin typeface="Calibri"/>
              <a:ea typeface="Calibri"/>
              <a:cs typeface="Calibri"/>
              <a:sym typeface="Calibri"/>
            </a:endParaRPr>
          </a:p>
        </p:txBody>
      </p:sp>
      <p:sp>
        <p:nvSpPr>
          <p:cNvPr id="239" name="Google Shape;239;p14"/>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Cumulative risk: how operational factors stack to predict delivery outcomes</a:t>
            </a:r>
            <a:endParaRPr sz="1400">
              <a:solidFill>
                <a:schemeClr val="dk1"/>
              </a:solidFill>
              <a:latin typeface="Calibri"/>
              <a:ea typeface="Calibri"/>
              <a:cs typeface="Calibri"/>
              <a:sym typeface="Calibri"/>
            </a:endParaRPr>
          </a:p>
        </p:txBody>
      </p:sp>
      <p:pic>
        <p:nvPicPr>
          <p:cNvPr descr="/home/claude/images/tale.png" id="241" name="Google Shape;241;p14"/>
          <p:cNvPicPr preferRelativeResize="0"/>
          <p:nvPr/>
        </p:nvPicPr>
        <p:blipFill rotWithShape="1">
          <a:blip r:embed="rId3">
            <a:alphaModFix/>
          </a:blip>
          <a:srcRect b="0" l="0" r="0" t="0"/>
          <a:stretch/>
        </p:blipFill>
        <p:spPr>
          <a:xfrm>
            <a:off x="457200" y="1463040"/>
            <a:ext cx="8229600" cy="4389120"/>
          </a:xfrm>
          <a:prstGeom prst="rect">
            <a:avLst/>
          </a:prstGeom>
          <a:noFill/>
          <a:ln>
            <a:noFill/>
          </a:ln>
        </p:spPr>
      </p:pic>
      <p:sp>
        <p:nvSpPr>
          <p:cNvPr id="242" name="Google Shape;242;p14"/>
          <p:cNvSpPr/>
          <p:nvPr/>
        </p:nvSpPr>
        <p:spPr>
          <a:xfrm>
            <a:off x="457200" y="5989320"/>
            <a:ext cx="8229600" cy="548640"/>
          </a:xfrm>
          <a:prstGeom prst="rect">
            <a:avLst/>
          </a:prstGeom>
          <a:solidFill>
            <a:srgbClr val="F5F1EC"/>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640080" y="5989320"/>
            <a:ext cx="7863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Same platform, same model, </a:t>
            </a:r>
            <a:r>
              <a:rPr b="1" i="1" lang="en-US" sz="1200">
                <a:solidFill>
                  <a:srgbClr val="1F2937"/>
                </a:solidFill>
                <a:latin typeface="Calibri"/>
                <a:ea typeface="Calibri"/>
                <a:cs typeface="Calibri"/>
                <a:sym typeface="Calibri"/>
              </a:rPr>
              <a:t>two completely different outcomes</a:t>
            </a:r>
            <a:r>
              <a:rPr i="1" lang="en-US" sz="1200">
                <a:solidFill>
                  <a:srgbClr val="6B7280"/>
                </a:solidFill>
                <a:latin typeface="Calibri"/>
                <a:ea typeface="Calibri"/>
                <a:cs typeface="Calibri"/>
                <a:sym typeface="Calibri"/>
              </a:rPr>
              <a:t>. The operational variables we control are the difference between 1% risk and 50% risk.</a:t>
            </a:r>
            <a:endParaRPr sz="1200">
              <a:solidFill>
                <a:schemeClr val="dk1"/>
              </a:solidFill>
              <a:latin typeface="Calibri"/>
              <a:ea typeface="Calibri"/>
              <a:cs typeface="Calibri"/>
              <a:sym typeface="Calibri"/>
            </a:endParaRPr>
          </a:p>
        </p:txBody>
      </p:sp>
      <p:sp>
        <p:nvSpPr>
          <p:cNvPr id="244" name="Google Shape;244;p14"/>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245" name="Google Shape;245;p14"/>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13</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p15"/>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How AI Feedback Improved Our Work</a:t>
            </a:r>
            <a:endParaRPr sz="2800">
              <a:solidFill>
                <a:schemeClr val="dk1"/>
              </a:solidFill>
              <a:latin typeface="Calibri"/>
              <a:ea typeface="Calibri"/>
              <a:cs typeface="Calibri"/>
              <a:sym typeface="Calibri"/>
            </a:endParaRPr>
          </a:p>
        </p:txBody>
      </p:sp>
      <p:sp>
        <p:nvSpPr>
          <p:cNvPr id="252" name="Google Shape;252;p15"/>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Iteration cycle: draft → AI critique → refined output</a:t>
            </a:r>
            <a:endParaRPr sz="1400">
              <a:solidFill>
                <a:schemeClr val="dk1"/>
              </a:solidFill>
              <a:latin typeface="Calibri"/>
              <a:ea typeface="Calibri"/>
              <a:cs typeface="Calibri"/>
              <a:sym typeface="Calibri"/>
            </a:endParaRPr>
          </a:p>
        </p:txBody>
      </p:sp>
      <p:sp>
        <p:nvSpPr>
          <p:cNvPr id="254" name="Google Shape;254;p15"/>
          <p:cNvSpPr/>
          <p:nvPr/>
        </p:nvSpPr>
        <p:spPr>
          <a:xfrm>
            <a:off x="327550" y="1554475"/>
            <a:ext cx="4152900" cy="4114800"/>
          </a:xfrm>
          <a:prstGeom prst="rect">
            <a:avLst/>
          </a:prstGeom>
          <a:solidFill>
            <a:srgbClr val="F5F1EC"/>
          </a:solidFill>
          <a:ln cap="flat" cmpd="sng" w="12700">
            <a:solidFill>
              <a:srgbClr val="6B728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392350" y="1645945"/>
            <a:ext cx="4023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600"/>
              <a:buFont typeface="Calibri"/>
              <a:buNone/>
            </a:pPr>
            <a:r>
              <a:rPr b="1" lang="en-US" sz="1600">
                <a:solidFill>
                  <a:srgbClr val="6B7280"/>
                </a:solidFill>
                <a:latin typeface="Calibri"/>
                <a:ea typeface="Calibri"/>
                <a:cs typeface="Calibri"/>
                <a:sym typeface="Calibri"/>
              </a:rPr>
              <a:t>BEFORE</a:t>
            </a:r>
            <a:endParaRPr sz="1600">
              <a:solidFill>
                <a:schemeClr val="dk1"/>
              </a:solidFill>
              <a:latin typeface="Calibri"/>
              <a:ea typeface="Calibri"/>
              <a:cs typeface="Calibri"/>
              <a:sym typeface="Calibri"/>
            </a:endParaRPr>
          </a:p>
        </p:txBody>
      </p:sp>
      <p:sp>
        <p:nvSpPr>
          <p:cNvPr id="256" name="Google Shape;256;p15"/>
          <p:cNvSpPr/>
          <p:nvPr/>
        </p:nvSpPr>
        <p:spPr>
          <a:xfrm>
            <a:off x="4663451" y="1554475"/>
            <a:ext cx="4337400" cy="4114800"/>
          </a:xfrm>
          <a:prstGeom prst="rect">
            <a:avLst/>
          </a:prstGeom>
          <a:solidFill>
            <a:srgbClr val="F5F1EC"/>
          </a:solidFill>
          <a:ln cap="flat" cmpd="sng" w="12700">
            <a:solidFill>
              <a:srgbClr val="B8504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4663440" y="1645920"/>
            <a:ext cx="4023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5042"/>
              </a:buClr>
              <a:buSzPts val="1600"/>
              <a:buFont typeface="Calibri"/>
              <a:buNone/>
            </a:pPr>
            <a:r>
              <a:rPr b="1" lang="en-US" sz="1600">
                <a:solidFill>
                  <a:srgbClr val="B85042"/>
                </a:solidFill>
                <a:latin typeface="Calibri"/>
                <a:ea typeface="Calibri"/>
                <a:cs typeface="Calibri"/>
                <a:sym typeface="Calibri"/>
              </a:rPr>
              <a:t>AFTER</a:t>
            </a:r>
            <a:endParaRPr sz="1600">
              <a:solidFill>
                <a:schemeClr val="dk1"/>
              </a:solidFill>
              <a:latin typeface="Calibri"/>
              <a:ea typeface="Calibri"/>
              <a:cs typeface="Calibri"/>
              <a:sym typeface="Calibri"/>
            </a:endParaRPr>
          </a:p>
        </p:txBody>
      </p:sp>
      <p:sp>
        <p:nvSpPr>
          <p:cNvPr id="258" name="Google Shape;258;p15"/>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14</a:t>
            </a:r>
            <a:endParaRPr sz="900">
              <a:solidFill>
                <a:schemeClr val="dk1"/>
              </a:solidFill>
              <a:latin typeface="Calibri"/>
              <a:ea typeface="Calibri"/>
              <a:cs typeface="Calibri"/>
              <a:sym typeface="Calibri"/>
            </a:endParaRPr>
          </a:p>
        </p:txBody>
      </p:sp>
      <p:pic>
        <p:nvPicPr>
          <p:cNvPr descr="/home/claude/images/WHEN.png" id="259" name="Google Shape;259;p15"/>
          <p:cNvPicPr preferRelativeResize="0"/>
          <p:nvPr/>
        </p:nvPicPr>
        <p:blipFill rotWithShape="1">
          <a:blip r:embed="rId3">
            <a:alphaModFix/>
          </a:blip>
          <a:srcRect b="0" l="0" r="0" t="0"/>
          <a:stretch/>
        </p:blipFill>
        <p:spPr>
          <a:xfrm>
            <a:off x="4663450" y="2045325"/>
            <a:ext cx="4337400" cy="4446924"/>
          </a:xfrm>
          <a:prstGeom prst="rect">
            <a:avLst/>
          </a:prstGeom>
          <a:noFill/>
          <a:ln>
            <a:noFill/>
          </a:ln>
        </p:spPr>
      </p:pic>
      <p:pic>
        <p:nvPicPr>
          <p:cNvPr id="260" name="Google Shape;260;p15" title="Screenshot 2026-05-05 214614.png"/>
          <p:cNvPicPr preferRelativeResize="0"/>
          <p:nvPr/>
        </p:nvPicPr>
        <p:blipFill>
          <a:blip r:embed="rId4">
            <a:alphaModFix/>
          </a:blip>
          <a:stretch>
            <a:fillRect/>
          </a:stretch>
        </p:blipFill>
        <p:spPr>
          <a:xfrm>
            <a:off x="327575" y="2045325"/>
            <a:ext cx="4152899" cy="4446926"/>
          </a:xfrm>
          <a:prstGeom prst="rect">
            <a:avLst/>
          </a:prstGeom>
          <a:solidFill>
            <a:srgbClr val="F5F1EC"/>
          </a:solidFill>
          <a:ln cap="flat" cmpd="sng" w="12700">
            <a:solidFill>
              <a:srgbClr val="6B7280"/>
            </a:solidFill>
            <a:prstDash val="dash"/>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p:nvPr/>
        </p:nvSpPr>
        <p:spPr>
          <a:xfrm>
            <a:off x="457200" y="2743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2800"/>
              <a:buFont typeface="Calibri"/>
              <a:buNone/>
            </a:pPr>
            <a:r>
              <a:rPr b="1" lang="en-US" sz="2800">
                <a:solidFill>
                  <a:srgbClr val="1F2937"/>
                </a:solidFill>
                <a:latin typeface="Calibri"/>
                <a:ea typeface="Calibri"/>
                <a:cs typeface="Calibri"/>
                <a:sym typeface="Calibri"/>
              </a:rPr>
              <a:t>What We Recommend</a:t>
            </a:r>
            <a:endParaRPr sz="2800">
              <a:solidFill>
                <a:schemeClr val="dk1"/>
              </a:solidFill>
              <a:latin typeface="Calibri"/>
              <a:ea typeface="Calibri"/>
              <a:cs typeface="Calibri"/>
              <a:sym typeface="Calibri"/>
            </a:endParaRPr>
          </a:p>
        </p:txBody>
      </p:sp>
      <p:sp>
        <p:nvSpPr>
          <p:cNvPr id="267" name="Google Shape;267;p16"/>
          <p:cNvSpPr/>
          <p:nvPr/>
        </p:nvSpPr>
        <p:spPr>
          <a:xfrm>
            <a:off x="457200" y="914400"/>
            <a:ext cx="548640" cy="45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457200" y="1005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i="1" lang="en-US" sz="1400">
                <a:solidFill>
                  <a:srgbClr val="6B7280"/>
                </a:solidFill>
                <a:latin typeface="Calibri"/>
                <a:ea typeface="Calibri"/>
                <a:cs typeface="Calibri"/>
                <a:sym typeface="Calibri"/>
              </a:rPr>
              <a:t>Four operational changes leadership should prioritize</a:t>
            </a:r>
            <a:endParaRPr sz="1400">
              <a:solidFill>
                <a:schemeClr val="dk1"/>
              </a:solidFill>
              <a:latin typeface="Calibri"/>
              <a:ea typeface="Calibri"/>
              <a:cs typeface="Calibri"/>
              <a:sym typeface="Calibri"/>
            </a:endParaRPr>
          </a:p>
        </p:txBody>
      </p:sp>
      <p:sp>
        <p:nvSpPr>
          <p:cNvPr id="269" name="Google Shape;269;p16"/>
          <p:cNvSpPr/>
          <p:nvPr/>
        </p:nvSpPr>
        <p:spPr>
          <a:xfrm>
            <a:off x="457200" y="1463040"/>
            <a:ext cx="8229600" cy="1143000"/>
          </a:xfrm>
          <a:prstGeom prst="rect">
            <a:avLst/>
          </a:prstGeom>
          <a:solidFill>
            <a:srgbClr val="F5F1EC"/>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640080" y="1737360"/>
            <a:ext cx="594360" cy="59436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640080" y="173736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01</a:t>
            </a:r>
            <a:endParaRPr sz="1400">
              <a:solidFill>
                <a:schemeClr val="dk1"/>
              </a:solidFill>
              <a:latin typeface="Calibri"/>
              <a:ea typeface="Calibri"/>
              <a:cs typeface="Calibri"/>
              <a:sym typeface="Calibri"/>
            </a:endParaRPr>
          </a:p>
        </p:txBody>
      </p:sp>
      <p:sp>
        <p:nvSpPr>
          <p:cNvPr id="272" name="Google Shape;272;p16"/>
          <p:cNvSpPr/>
          <p:nvPr/>
        </p:nvSpPr>
        <p:spPr>
          <a:xfrm>
            <a:off x="1417320" y="1600200"/>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Recalibrate the ETA algorithm</a:t>
            </a:r>
            <a:endParaRPr sz="1400">
              <a:solidFill>
                <a:schemeClr val="dk1"/>
              </a:solidFill>
              <a:latin typeface="Calibri"/>
              <a:ea typeface="Calibri"/>
              <a:cs typeface="Calibri"/>
              <a:sym typeface="Calibri"/>
            </a:endParaRPr>
          </a:p>
        </p:txBody>
      </p:sp>
      <p:sp>
        <p:nvSpPr>
          <p:cNvPr id="273" name="Google Shape;273;p16"/>
          <p:cNvSpPr/>
          <p:nvPr/>
        </p:nvSpPr>
        <p:spPr>
          <a:xfrm>
            <a:off x="1417320" y="1965960"/>
            <a:ext cx="71323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1" lang="en-US" sz="1100">
                <a:solidFill>
                  <a:srgbClr val="6B7280"/>
                </a:solidFill>
                <a:latin typeface="Calibri"/>
                <a:ea typeface="Calibri"/>
                <a:cs typeface="Calibri"/>
                <a:sym typeface="Calibri"/>
              </a:rPr>
              <a:t>Factor in distance, traffic, and pizza size when generating customer-facing delivery estimates. Stop systematically </a:t>
            </a:r>
            <a:r>
              <a:rPr i="1" lang="en-US" sz="1100">
                <a:solidFill>
                  <a:srgbClr val="6B7280"/>
                </a:solidFill>
                <a:latin typeface="Calibri"/>
                <a:ea typeface="Calibri"/>
                <a:cs typeface="Calibri"/>
                <a:sym typeface="Calibri"/>
              </a:rPr>
              <a:t>under promising</a:t>
            </a:r>
            <a:r>
              <a:rPr i="1" lang="en-US" sz="1100">
                <a:solidFill>
                  <a:srgbClr val="6B7280"/>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274" name="Google Shape;274;p16"/>
          <p:cNvSpPr/>
          <p:nvPr/>
        </p:nvSpPr>
        <p:spPr>
          <a:xfrm>
            <a:off x="457200" y="2651760"/>
            <a:ext cx="8229600" cy="1143000"/>
          </a:xfrm>
          <a:prstGeom prst="rect">
            <a:avLst/>
          </a:prstGeom>
          <a:solidFill>
            <a:srgbClr val="FFFFFF"/>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640080" y="2926080"/>
            <a:ext cx="594360" cy="59436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640080" y="292608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02</a:t>
            </a:r>
            <a:endParaRPr sz="1400">
              <a:solidFill>
                <a:schemeClr val="dk1"/>
              </a:solidFill>
              <a:latin typeface="Calibri"/>
              <a:ea typeface="Calibri"/>
              <a:cs typeface="Calibri"/>
              <a:sym typeface="Calibri"/>
            </a:endParaRPr>
          </a:p>
        </p:txBody>
      </p:sp>
      <p:sp>
        <p:nvSpPr>
          <p:cNvPr id="277" name="Google Shape;277;p16"/>
          <p:cNvSpPr/>
          <p:nvPr/>
        </p:nvSpPr>
        <p:spPr>
          <a:xfrm>
            <a:off x="1417320" y="2788920"/>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Implement an early-warning system</a:t>
            </a:r>
            <a:endParaRPr sz="1400">
              <a:solidFill>
                <a:schemeClr val="dk1"/>
              </a:solidFill>
              <a:latin typeface="Calibri"/>
              <a:ea typeface="Calibri"/>
              <a:cs typeface="Calibri"/>
              <a:sym typeface="Calibri"/>
            </a:endParaRPr>
          </a:p>
        </p:txBody>
      </p:sp>
      <p:sp>
        <p:nvSpPr>
          <p:cNvPr id="278" name="Google Shape;278;p16"/>
          <p:cNvSpPr/>
          <p:nvPr/>
        </p:nvSpPr>
        <p:spPr>
          <a:xfrm>
            <a:off x="1417320" y="3154680"/>
            <a:ext cx="71323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1" lang="en-US" sz="1100">
                <a:solidFill>
                  <a:srgbClr val="6B7280"/>
                </a:solidFill>
                <a:latin typeface="Calibri"/>
                <a:ea typeface="Calibri"/>
                <a:cs typeface="Calibri"/>
                <a:sym typeface="Calibri"/>
              </a:rPr>
              <a:t>Use our predictive model to flag at-risk orders at order intake. Enable dispatch to intervene before the customer is disappointed.</a:t>
            </a:r>
            <a:endParaRPr sz="1100">
              <a:solidFill>
                <a:schemeClr val="dk1"/>
              </a:solidFill>
              <a:latin typeface="Calibri"/>
              <a:ea typeface="Calibri"/>
              <a:cs typeface="Calibri"/>
              <a:sym typeface="Calibri"/>
            </a:endParaRPr>
          </a:p>
        </p:txBody>
      </p:sp>
      <p:sp>
        <p:nvSpPr>
          <p:cNvPr id="279" name="Google Shape;279;p16"/>
          <p:cNvSpPr/>
          <p:nvPr/>
        </p:nvSpPr>
        <p:spPr>
          <a:xfrm>
            <a:off x="457200" y="3840480"/>
            <a:ext cx="8229600" cy="1143000"/>
          </a:xfrm>
          <a:prstGeom prst="rect">
            <a:avLst/>
          </a:prstGeom>
          <a:solidFill>
            <a:srgbClr val="F5F1EC"/>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640080" y="4114800"/>
            <a:ext cx="594360" cy="59436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640080" y="411480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03</a:t>
            </a:r>
            <a:endParaRPr sz="1400">
              <a:solidFill>
                <a:schemeClr val="dk1"/>
              </a:solidFill>
              <a:latin typeface="Calibri"/>
              <a:ea typeface="Calibri"/>
              <a:cs typeface="Calibri"/>
              <a:sym typeface="Calibri"/>
            </a:endParaRPr>
          </a:p>
        </p:txBody>
      </p:sp>
      <p:sp>
        <p:nvSpPr>
          <p:cNvPr id="282" name="Google Shape;282;p16"/>
          <p:cNvSpPr/>
          <p:nvPr/>
        </p:nvSpPr>
        <p:spPr>
          <a:xfrm>
            <a:off x="1417320" y="3977640"/>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Set delivery distance thresholds</a:t>
            </a:r>
            <a:endParaRPr sz="1400">
              <a:solidFill>
                <a:schemeClr val="dk1"/>
              </a:solidFill>
              <a:latin typeface="Calibri"/>
              <a:ea typeface="Calibri"/>
              <a:cs typeface="Calibri"/>
              <a:sym typeface="Calibri"/>
            </a:endParaRPr>
          </a:p>
        </p:txBody>
      </p:sp>
      <p:sp>
        <p:nvSpPr>
          <p:cNvPr id="283" name="Google Shape;283;p16"/>
          <p:cNvSpPr/>
          <p:nvPr/>
        </p:nvSpPr>
        <p:spPr>
          <a:xfrm>
            <a:off x="1417320" y="4343400"/>
            <a:ext cx="71323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1" lang="en-US" sz="1100">
                <a:solidFill>
                  <a:srgbClr val="6B7280"/>
                </a:solidFill>
                <a:latin typeface="Calibri"/>
                <a:ea typeface="Calibri"/>
                <a:cs typeface="Calibri"/>
                <a:sym typeface="Calibri"/>
              </a:rPr>
              <a:t>Past 8 km, delays approach 100%. Either decline these orders or set realistic ETAs that reflect actual conditions.</a:t>
            </a:r>
            <a:endParaRPr sz="1100">
              <a:solidFill>
                <a:schemeClr val="dk1"/>
              </a:solidFill>
              <a:latin typeface="Calibri"/>
              <a:ea typeface="Calibri"/>
              <a:cs typeface="Calibri"/>
              <a:sym typeface="Calibri"/>
            </a:endParaRPr>
          </a:p>
        </p:txBody>
      </p:sp>
      <p:sp>
        <p:nvSpPr>
          <p:cNvPr id="284" name="Google Shape;284;p16"/>
          <p:cNvSpPr/>
          <p:nvPr/>
        </p:nvSpPr>
        <p:spPr>
          <a:xfrm>
            <a:off x="457200" y="5029200"/>
            <a:ext cx="8229600" cy="1143000"/>
          </a:xfrm>
          <a:prstGeom prst="rect">
            <a:avLst/>
          </a:prstGeom>
          <a:solidFill>
            <a:srgbClr val="FFFFFF"/>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640080" y="5303520"/>
            <a:ext cx="594360" cy="59436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640080" y="53035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04</a:t>
            </a:r>
            <a:endParaRPr sz="1400">
              <a:solidFill>
                <a:schemeClr val="dk1"/>
              </a:solidFill>
              <a:latin typeface="Calibri"/>
              <a:ea typeface="Calibri"/>
              <a:cs typeface="Calibri"/>
              <a:sym typeface="Calibri"/>
            </a:endParaRPr>
          </a:p>
        </p:txBody>
      </p:sp>
      <p:sp>
        <p:nvSpPr>
          <p:cNvPr id="287" name="Google Shape;287;p16"/>
          <p:cNvSpPr/>
          <p:nvPr/>
        </p:nvSpPr>
        <p:spPr>
          <a:xfrm>
            <a:off x="1417320" y="5166360"/>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Differentiate operational playbooks</a:t>
            </a:r>
            <a:endParaRPr sz="1400">
              <a:solidFill>
                <a:schemeClr val="dk1"/>
              </a:solidFill>
              <a:latin typeface="Calibri"/>
              <a:ea typeface="Calibri"/>
              <a:cs typeface="Calibri"/>
              <a:sym typeface="Calibri"/>
            </a:endParaRPr>
          </a:p>
        </p:txBody>
      </p:sp>
      <p:sp>
        <p:nvSpPr>
          <p:cNvPr id="288" name="Google Shape;288;p16"/>
          <p:cNvSpPr/>
          <p:nvPr/>
        </p:nvSpPr>
        <p:spPr>
          <a:xfrm>
            <a:off x="1417320" y="5532120"/>
            <a:ext cx="713232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6B6B6B"/>
              </a:buClr>
              <a:buSzPts val="1050"/>
              <a:buFont typeface="Calibri"/>
              <a:buNone/>
            </a:pPr>
            <a:r>
              <a:rPr i="1" lang="en-US" sz="1050">
                <a:solidFill>
                  <a:srgbClr val="6B6B6B"/>
                </a:solidFill>
                <a:latin typeface="Calibri"/>
                <a:ea typeface="Calibri"/>
                <a:cs typeface="Calibri"/>
                <a:sym typeface="Calibri"/>
              </a:rPr>
              <a:t>Distance is the master lever, but toppings count and XL size add real minutes once a delay starts. Add kitchen prep priority for XL orders and topping caps on long-distance deliveries.</a:t>
            </a:r>
            <a:endParaRPr sz="1100">
              <a:solidFill>
                <a:schemeClr val="dk1"/>
              </a:solidFill>
              <a:latin typeface="Calibri"/>
              <a:ea typeface="Calibri"/>
              <a:cs typeface="Calibri"/>
              <a:sym typeface="Calibri"/>
            </a:endParaRPr>
          </a:p>
        </p:txBody>
      </p:sp>
      <p:sp>
        <p:nvSpPr>
          <p:cNvPr id="289" name="Google Shape;289;p16"/>
          <p:cNvSpPr/>
          <p:nvPr/>
        </p:nvSpPr>
        <p:spPr>
          <a:xfrm>
            <a:off x="457200" y="65379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i="1" lang="en-US" sz="900">
                <a:solidFill>
                  <a:srgbClr val="6B7280"/>
                </a:solidFill>
                <a:latin typeface="Calibri"/>
                <a:ea typeface="Calibri"/>
                <a:cs typeface="Calibri"/>
                <a:sym typeface="Calibri"/>
              </a:rPr>
              <a:t>Team RAD | ITEC 460 | Pizzagate</a:t>
            </a:r>
            <a:endParaRPr sz="900">
              <a:solidFill>
                <a:schemeClr val="dk1"/>
              </a:solidFill>
              <a:latin typeface="Calibri"/>
              <a:ea typeface="Calibri"/>
              <a:cs typeface="Calibri"/>
              <a:sym typeface="Calibri"/>
            </a:endParaRPr>
          </a:p>
        </p:txBody>
      </p:sp>
      <p:sp>
        <p:nvSpPr>
          <p:cNvPr id="290" name="Google Shape;290;p16"/>
          <p:cNvSpPr/>
          <p:nvPr/>
        </p:nvSpPr>
        <p:spPr>
          <a:xfrm>
            <a:off x="8046720" y="6537960"/>
            <a:ext cx="6400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15</a:t>
            </a:r>
            <a:endParaRPr sz="9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937"/>
        </a:solidFill>
      </p:bgPr>
    </p:bg>
    <p:spTree>
      <p:nvGrpSpPr>
        <p:cNvPr id="295" name="Shape 295"/>
        <p:cNvGrpSpPr/>
        <p:nvPr/>
      </p:nvGrpSpPr>
      <p:grpSpPr>
        <a:xfrm>
          <a:off x="0" y="0"/>
          <a:ext cx="0" cy="0"/>
          <a:chOff x="0" y="0"/>
          <a:chExt cx="0" cy="0"/>
        </a:xfrm>
      </p:grpSpPr>
      <p:sp>
        <p:nvSpPr>
          <p:cNvPr id="296" name="Google Shape;296;p17"/>
          <p:cNvSpPr/>
          <p:nvPr/>
        </p:nvSpPr>
        <p:spPr>
          <a:xfrm>
            <a:off x="457200" y="914400"/>
            <a:ext cx="82296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6000"/>
              <a:buFont typeface="Calibri"/>
              <a:buNone/>
            </a:pPr>
            <a:r>
              <a:rPr b="1" lang="en-US" sz="6000">
                <a:solidFill>
                  <a:srgbClr val="FFFFFF"/>
                </a:solidFill>
                <a:latin typeface="Calibri"/>
                <a:ea typeface="Calibri"/>
                <a:cs typeface="Calibri"/>
                <a:sym typeface="Calibri"/>
              </a:rPr>
              <a:t>Thank You</a:t>
            </a:r>
            <a:endParaRPr sz="6000">
              <a:solidFill>
                <a:schemeClr val="dk1"/>
              </a:solidFill>
              <a:latin typeface="Calibri"/>
              <a:ea typeface="Calibri"/>
              <a:cs typeface="Calibri"/>
              <a:sym typeface="Calibri"/>
            </a:endParaRPr>
          </a:p>
        </p:txBody>
      </p:sp>
      <p:sp>
        <p:nvSpPr>
          <p:cNvPr id="297" name="Google Shape;297;p17"/>
          <p:cNvSpPr/>
          <p:nvPr/>
        </p:nvSpPr>
        <p:spPr>
          <a:xfrm>
            <a:off x="457200" y="201168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1A66E"/>
              </a:buClr>
              <a:buSzPts val="2200"/>
              <a:buFont typeface="Calibri"/>
              <a:buNone/>
            </a:pPr>
            <a:r>
              <a:rPr i="1" lang="en-US" sz="2200">
                <a:solidFill>
                  <a:srgbClr val="F1A66E"/>
                </a:solidFill>
                <a:latin typeface="Calibri"/>
                <a:ea typeface="Calibri"/>
                <a:cs typeface="Calibri"/>
                <a:sym typeface="Calibri"/>
              </a:rPr>
              <a:t>Questions &amp; Discussion</a:t>
            </a:r>
            <a:endParaRPr sz="2200">
              <a:solidFill>
                <a:schemeClr val="dk1"/>
              </a:solidFill>
              <a:latin typeface="Calibri"/>
              <a:ea typeface="Calibri"/>
              <a:cs typeface="Calibri"/>
              <a:sym typeface="Calibri"/>
            </a:endParaRPr>
          </a:p>
        </p:txBody>
      </p:sp>
      <p:sp>
        <p:nvSpPr>
          <p:cNvPr id="298" name="Google Shape;298;p17"/>
          <p:cNvSpPr/>
          <p:nvPr/>
        </p:nvSpPr>
        <p:spPr>
          <a:xfrm>
            <a:off x="4114800" y="274320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7"/>
          <p:cNvSpPr/>
          <p:nvPr/>
        </p:nvSpPr>
        <p:spPr>
          <a:xfrm>
            <a:off x="457200" y="310896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1A66E"/>
              </a:buClr>
              <a:buSzPts val="1300"/>
              <a:buFont typeface="Calibri"/>
              <a:buNone/>
            </a:pPr>
            <a:r>
              <a:rPr b="1" lang="en-US" sz="1300">
                <a:solidFill>
                  <a:srgbClr val="F1A66E"/>
                </a:solidFill>
                <a:latin typeface="Calibri"/>
                <a:ea typeface="Calibri"/>
                <a:cs typeface="Calibri"/>
                <a:sym typeface="Calibri"/>
              </a:rPr>
              <a:t>AI TOOLS USED IN THIS PROJECT</a:t>
            </a:r>
            <a:endParaRPr sz="1300">
              <a:solidFill>
                <a:schemeClr val="dk1"/>
              </a:solidFill>
              <a:latin typeface="Calibri"/>
              <a:ea typeface="Calibri"/>
              <a:cs typeface="Calibri"/>
              <a:sym typeface="Calibri"/>
            </a:endParaRPr>
          </a:p>
        </p:txBody>
      </p:sp>
      <p:sp>
        <p:nvSpPr>
          <p:cNvPr id="300" name="Google Shape;300;p17"/>
          <p:cNvSpPr/>
          <p:nvPr/>
        </p:nvSpPr>
        <p:spPr>
          <a:xfrm>
            <a:off x="914400" y="3703320"/>
            <a:ext cx="73152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Claude (Anthropic)</a:t>
            </a:r>
            <a:r>
              <a:rPr lang="en-US" sz="1400">
                <a:solidFill>
                  <a:srgbClr val="6B7280"/>
                </a:solidFill>
                <a:latin typeface="Calibri"/>
                <a:ea typeface="Calibri"/>
                <a:cs typeface="Calibri"/>
                <a:sym typeface="Calibri"/>
              </a:rPr>
              <a:t>  —  </a:t>
            </a:r>
            <a:r>
              <a:rPr i="1" lang="en-US" sz="1400">
                <a:solidFill>
                  <a:srgbClr val="F1A66E"/>
                </a:solidFill>
                <a:latin typeface="Calibri"/>
                <a:ea typeface="Calibri"/>
                <a:cs typeface="Calibri"/>
                <a:sym typeface="Calibri"/>
              </a:rPr>
              <a:t>Analytical partner, code review, deck design</a:t>
            </a:r>
            <a:endParaRPr sz="1500">
              <a:solidFill>
                <a:schemeClr val="dk1"/>
              </a:solidFill>
              <a:latin typeface="Calibri"/>
              <a:ea typeface="Calibri"/>
              <a:cs typeface="Calibri"/>
              <a:sym typeface="Calibri"/>
            </a:endParaRPr>
          </a:p>
        </p:txBody>
      </p:sp>
      <p:sp>
        <p:nvSpPr>
          <p:cNvPr id="301" name="Google Shape;301;p17"/>
          <p:cNvSpPr/>
          <p:nvPr/>
        </p:nvSpPr>
        <p:spPr>
          <a:xfrm>
            <a:off x="914400" y="4206240"/>
            <a:ext cx="73152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ChatGPT (OpenAI)</a:t>
            </a:r>
            <a:r>
              <a:rPr lang="en-US" sz="1400">
                <a:solidFill>
                  <a:srgbClr val="6B7280"/>
                </a:solidFill>
                <a:latin typeface="Calibri"/>
                <a:ea typeface="Calibri"/>
                <a:cs typeface="Calibri"/>
                <a:sym typeface="Calibri"/>
              </a:rPr>
              <a:t>  —  </a:t>
            </a:r>
            <a:r>
              <a:rPr i="1" lang="en-US" sz="1400">
                <a:solidFill>
                  <a:srgbClr val="F1A66E"/>
                </a:solidFill>
                <a:latin typeface="Calibri"/>
                <a:ea typeface="Calibri"/>
                <a:cs typeface="Calibri"/>
                <a:sym typeface="Calibri"/>
              </a:rPr>
              <a:t>Cross-validation, prompt iteration</a:t>
            </a:r>
            <a:endParaRPr sz="1500">
              <a:solidFill>
                <a:schemeClr val="dk1"/>
              </a:solidFill>
              <a:latin typeface="Calibri"/>
              <a:ea typeface="Calibri"/>
              <a:cs typeface="Calibri"/>
              <a:sym typeface="Calibri"/>
            </a:endParaRPr>
          </a:p>
        </p:txBody>
      </p:sp>
      <p:sp>
        <p:nvSpPr>
          <p:cNvPr id="302" name="Google Shape;302;p17"/>
          <p:cNvSpPr/>
          <p:nvPr/>
        </p:nvSpPr>
        <p:spPr>
          <a:xfrm>
            <a:off x="914400" y="4663455"/>
            <a:ext cx="7315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Image generation tools</a:t>
            </a:r>
            <a:r>
              <a:rPr lang="en-US" sz="1400">
                <a:solidFill>
                  <a:srgbClr val="6B7280"/>
                </a:solidFill>
                <a:latin typeface="Calibri"/>
                <a:ea typeface="Calibri"/>
                <a:cs typeface="Calibri"/>
                <a:sym typeface="Calibri"/>
              </a:rPr>
              <a:t>  —  </a:t>
            </a:r>
            <a:r>
              <a:rPr i="1" lang="en-US" sz="1400">
                <a:solidFill>
                  <a:srgbClr val="F1A66E"/>
                </a:solidFill>
                <a:latin typeface="Calibri"/>
                <a:ea typeface="Calibri"/>
                <a:cs typeface="Calibri"/>
                <a:sym typeface="Calibri"/>
              </a:rPr>
              <a:t>Custom heatmap and infographic creation</a:t>
            </a:r>
            <a:endParaRPr sz="1500">
              <a:solidFill>
                <a:schemeClr val="dk1"/>
              </a:solidFill>
              <a:latin typeface="Calibri"/>
              <a:ea typeface="Calibri"/>
              <a:cs typeface="Calibri"/>
              <a:sym typeface="Calibri"/>
            </a:endParaRPr>
          </a:p>
        </p:txBody>
      </p:sp>
      <p:sp>
        <p:nvSpPr>
          <p:cNvPr id="303" name="Google Shape;303;p1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280"/>
              </a:buClr>
              <a:buSzPts val="1100"/>
              <a:buFont typeface="Calibri"/>
              <a:buNone/>
            </a:pPr>
            <a:r>
              <a:rPr i="1" lang="en-US" sz="1100">
                <a:solidFill>
                  <a:srgbClr val="6B7280"/>
                </a:solidFill>
                <a:latin typeface="Calibri"/>
                <a:ea typeface="Calibri"/>
                <a:cs typeface="Calibri"/>
                <a:sym typeface="Calibri"/>
              </a:rPr>
              <a:t>Team RAD  •  ITEC 460  •  Professor Gwanhoo Lee</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